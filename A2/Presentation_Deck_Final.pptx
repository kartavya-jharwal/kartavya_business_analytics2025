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Kartavya-Jharwal/Kartavya_Business_Analytics2025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Airbnb London 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Drives Nightly Rates?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£127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 2-bedroom flat in Camden sleeps 4 guests. Should the host charge £85 or £127 per night?</a:t>
            </a:r>
          </a:p>
          <a:p>
            <a:pPr lvl="0" indent="0" marL="0">
              <a:buNone/>
            </a:pPr>
            <a:r>
              <a:rPr b="1"/>
              <a:t>This analysis answers that question with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Slide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you remember nothing else…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Room type is king:</a:t>
                      </a:r>
                      <a:r>
                        <a:rPr/>
                        <a:t> Entire homes command </a:t>
                      </a:r>
                      <a:r>
                        <a:rPr b="1"/>
                        <a:t>52-75% premiums</a:t>
                      </a:r>
                      <a:r>
                        <a:rPr/>
                        <a:t> over private/shared spaces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Size scales linearly:</a:t>
                      </a:r>
                      <a:r>
                        <a:rPr/>
                        <a:t> Each guest capacity = </a:t>
                      </a:r>
                      <a:r>
                        <a:rPr b="1"/>
                        <a:t>+12%</a:t>
                      </a:r>
                      <a:r>
                        <a:rPr/>
                        <a:t> price, each bedroom = </a:t>
                      </a:r>
                      <a:r>
                        <a:rPr b="1"/>
                        <a:t>+18%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Model accuracy:</a:t>
                      </a:r>
                      <a:r>
                        <a:rPr/>
                        <a:t> 73% of predictions within one price tier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R² = 0.50:</a:t>
                      </a:r>
                      <a:r>
                        <a:rPr/>
                        <a:t> Half the story told by 6 variables; the other half needs amenities, reviews, exact location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Abel Murad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Loading &amp; EDA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Kartavya Jharwal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Development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Muazzamkhon Mirdjamalova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Documentation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Rakhila Sayemkozhina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Abdul Rafay Malik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Interpretation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Puck Schulten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Visualization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Course:</a:t>
            </a:r>
            <a:r>
              <a:rPr/>
              <a:t> BAN-0200 • </a:t>
            </a:r>
            <a:r>
              <a:rPr b="1"/>
              <a:t>Professor:</a:t>
            </a:r>
            <a:r>
              <a:rPr/>
              <a:t> Glen Joseph • </a:t>
            </a:r>
            <a:r>
              <a:rPr b="1"/>
              <a:t>Institution:</a:t>
            </a:r>
            <a:r>
              <a:rPr/>
              <a:t> Hult International Business School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at a Glance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Listings analyzed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6,319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Inside Airbnb (public data)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Geography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33 London boroughs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Price 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£10 – £9,999 / night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Median price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£75 / night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Sampling:</a:t>
            </a:r>
            <a:r>
              <a:rPr/>
              <a:t> Stratified by neighbourhood and room type to preserve market representation.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Price is Messy</a:t>
            </a:r>
          </a:p>
        </p:txBody>
      </p:sp>
      <p:pic>
        <p:nvPicPr>
          <p:cNvPr descr="img/01_price_histo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Price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histogram shows:</a:t>
            </a:r>
            <a:r>
              <a:rPr/>
              <a:t> - Extreme right skew (long tail of luxury listings) - Median (£75) &lt;&lt; Mean (£102) - Top 1% above £500/night</a:t>
            </a:r>
          </a:p>
          <a:p>
            <a:pPr lvl="0" indent="0" marL="0">
              <a:buNone/>
            </a:pPr>
            <a:r>
              <a:rPr b="1"/>
              <a:t>Our response:</a:t>
            </a:r>
            <a:r>
              <a:rPr/>
              <a:t> Log-transform the target variable to stabilize variance.</a:t>
            </a:r>
          </a:p>
          <a:p>
            <a:pPr lvl="0" indent="0" marL="0">
              <a:buNone/>
            </a:pPr>
            <a:r>
              <a:rPr i="1"/>
              <a:t>“When the data screams skewness, the analyst whispers logarithms.”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Outlier Detection: The Boxplot View</a:t>
            </a:r>
          </a:p>
        </p:txBody>
      </p:sp>
      <p:pic>
        <p:nvPicPr>
          <p:cNvPr descr="img/02_price_box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6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Price Boxplot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observations:</a:t>
            </a:r>
            <a:r>
              <a:rPr/>
              <a:t> - IQR: £50–£125 (where 50% of listings fall) - Upper fence: ~£200 (outliers above this) - Extreme outliers: £500+ luxury listings</a:t>
            </a:r>
          </a:p>
          <a:p>
            <a:pPr lvl="0" indent="0" marL="0">
              <a:buNone/>
            </a:pPr>
            <a:r>
              <a:rPr b="1"/>
              <a:t>Action taken:</a:t>
            </a:r>
            <a:r>
              <a:rPr/>
              <a:t> Capped at £1,000/night for modeling stability.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Room Type: The Dominant Signal</a:t>
            </a:r>
          </a:p>
        </p:txBody>
      </p:sp>
      <p:pic>
        <p:nvPicPr>
          <p:cNvPr descr="img/03_room_type_box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Price by Room Type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Avg.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vs. Entire Home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Entire home/apt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£139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Private 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Shared 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insight:</a:t>
            </a:r>
            <a:r>
              <a:rPr/>
              <a:t> Privacy is worth more than any amenity. Hosts offering entire homes operate in a fundamentally different market than room-sharers.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Size Matters (Linearly)</a:t>
            </a:r>
          </a:p>
        </p:txBody>
      </p:sp>
      <p:pic>
        <p:nvPicPr>
          <p:cNvPr descr="img/04_price_vs_accommod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Price vs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pattern:</a:t>
            </a:r>
            <a:r>
              <a:rPr/>
              <a:t> - 2 guests → £75/night - 4 guests → £115/night (+53%) - 6 guests → £185/night (+147%)</a:t>
            </a:r>
          </a:p>
          <a:p>
            <a:pPr lvl="0" indent="0" marL="0">
              <a:buNone/>
            </a:pPr>
            <a:r>
              <a:rPr b="1"/>
              <a:t>Rule of thumb:</a:t>
            </a:r>
            <a:r>
              <a:rPr/>
              <a:t> Each additional guest capacity = </a:t>
            </a:r>
            <a:r>
              <a:rPr b="1"/>
              <a:t>+12% price premium</a:t>
            </a:r>
          </a:p>
          <a:p>
            <a:pPr lvl="0" indent="0" marL="0">
              <a:buNone/>
            </a:pPr>
            <a:r>
              <a:rPr/>
              <a:t>This is remarkably consistent across the dataset.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Bedrooms: The Privacy Premium</a:t>
            </a:r>
          </a:p>
        </p:txBody>
      </p:sp>
      <p:pic>
        <p:nvPicPr>
          <p:cNvPr descr="img/05_price_vs_bedroo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Price vs Bedrooms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pattern:</a:t>
            </a:r>
            <a:r>
              <a:rPr/>
              <a:t> - 1 bedroom → £85/night (base) - 2 bedrooms → £125/night (+47%) - 3+ bedrooms → £175/night (+106%)</a:t>
            </a:r>
          </a:p>
          <a:p>
            <a:pPr lvl="0" indent="0" marL="0">
              <a:buNone/>
            </a:pPr>
            <a:r>
              <a:rPr b="1"/>
              <a:t>Insight:</a:t>
            </a:r>
            <a:r>
              <a:rPr/>
              <a:t> Bedrooms represent privacy, not just space. Families and groups pay more for separation.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Location: The Geographic Premium</a:t>
            </a:r>
          </a:p>
        </p:txBody>
      </p:sp>
      <p:pic>
        <p:nvPicPr>
          <p:cNvPr descr="img/07_geographic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2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Geographic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Central London effect:</a:t>
            </a:r>
            <a:r>
              <a:rPr/>
              <a:t> - Westminster, Kensington &amp; Chelsea, City of London = highest medians - Price decays ~5% per mile from center - Tube accessibility adds 10-15% premium</a:t>
            </a:r>
          </a:p>
          <a:p>
            <a:pPr lvl="0" indent="0" marL="0">
              <a:buNone/>
            </a:pPr>
            <a:r>
              <a:rPr b="1"/>
              <a:t>Implication:</a:t>
            </a:r>
            <a:r>
              <a:rPr/>
              <a:t> A Zone 1 listing can charge 30-50% more than an identical property in Zone 4.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Availability Patterns</a:t>
            </a:r>
          </a:p>
        </p:txBody>
      </p:sp>
      <p:pic>
        <p:nvPicPr>
          <p:cNvPr descr="img/08_availability_histo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Availability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 see:</a:t>
            </a:r>
            <a:r>
              <a:rPr/>
              <a:t> - Bimodal distribution: either rarely available or always available - ~25% of listings have &lt;30 days availability (high demand or hobbyist hosts) - ~20% have 365 days (professional/dedicated rentals)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Availability vs Price</a:t>
            </a:r>
          </a:p>
        </p:txBody>
      </p:sp>
      <p:pic>
        <p:nvPicPr>
          <p:cNvPr descr="img/09_availability_vs_pri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Availability vs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Weak relationship (r ≈ 0.05):</a:t>
            </a:r>
            <a:r>
              <a:rPr/>
              <a:t> - High availability ≠ lower prices - Suggests availability is a host choice, not market signal</a:t>
            </a:r>
          </a:p>
          <a:p>
            <a:pPr lvl="0" indent="0" marL="0">
              <a:buNone/>
            </a:pPr>
            <a:r>
              <a:rPr b="1"/>
              <a:t>Excluded from model:</a:t>
            </a:r>
            <a:r>
              <a:rPr/>
              <a:t> Not a significant price predictor.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Minimum Nights: Host Strategy</a:t>
            </a:r>
          </a:p>
        </p:txBody>
      </p:sp>
      <p:pic>
        <p:nvPicPr>
          <p:cNvPr descr="img/10_minimum_nights_histo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Minimum Nights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Distribution insights:</a:t>
            </a:r>
            <a:r>
              <a:rPr/>
              <a:t> - Mode at 1-2 nights (tourist-friendly) - Secondary peak at 30+ nights (long-term rentals, regulatory compliance) - London 90-day rule creates clustering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Minimum Nights by Category</a:t>
            </a:r>
          </a:p>
        </p:txBody>
      </p:sp>
      <p:pic>
        <p:nvPicPr>
          <p:cNvPr descr="img/11_minimum_nights_by_catego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6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Minimum Nights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interpretation:</a:t>
            </a:r>
            <a:r>
              <a:rPr/>
              <a:t> - Short-stay (&lt;7 nights): Tourist market, higher turnover - Medium-stay (7-30): Business travelers, relocations - Long-stay (30+): Corporate housing, regulatory workaround</a:t>
            </a:r>
          </a:p>
          <a:p>
            <a:pPr lvl="0" indent="0" marL="0">
              <a:buNone/>
            </a:pPr>
            <a:r>
              <a:rPr b="1"/>
              <a:t>Excluded from final model:</a:t>
            </a:r>
            <a:r>
              <a:rPr/>
              <a:t> Reflects host strategy, not price driver.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Reality Check</a:t>
            </a:r>
          </a:p>
        </p:txBody>
      </p:sp>
      <p:pic>
        <p:nvPicPr>
          <p:cNvPr descr="img/06_correlation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9900" y="1193800"/>
            <a:ext cx="312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Correlation Matrix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Accommodates ↔ Bedrooms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Bedrooms ↔ Beds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Accommodates ↔ Price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multicollinearity question:</a:t>
            </a:r>
            <a:r>
              <a:rPr/>
              <a:t> - VIF for accommodates = 11.6 (above threshold) - </a:t>
            </a:r>
            <a:r>
              <a:rPr b="1"/>
              <a:t>Decision:</a:t>
            </a:r>
            <a:r>
              <a:rPr/>
              <a:t> Retained all three—they measure different hospitality concepts (legal capacity vs. privacy units vs. sleeping surfaces)</a:t>
            </a:r>
          </a:p>
          <a:p>
            <a:pPr lvl="0" indent="0" marL="0">
              <a:buNone/>
            </a:pPr>
            <a:r>
              <a:rPr i="1"/>
              <a:t>Statistical purity &lt; Business validity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Model Specification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Price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accommodates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bedrooms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beds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Hotel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5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Private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6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Shared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Hypotheses:</a:t>
                </a:r>
                <a:r>
                  <a:rPr/>
                  <a:t> - H₀: All β = 0 (characteristics don’t matter) - H₁: ∃ β ≠ 0 (at least one matters)</a:t>
                </a:r>
              </a:p>
              <a:p>
                <a:pPr lvl="0" indent="0" marL="0">
                  <a:buNone/>
                </a:pPr>
                <a:r>
                  <a:rPr b="1"/>
                  <a:t>Result:</a:t>
                </a:r>
                <a:r>
                  <a:rPr/>
                  <a:t> F-statistic &gt; 1,000, p &lt; 0.001 → </a:t>
                </a:r>
                <a:r>
                  <a:rPr b="1"/>
                  <a:t>Reject H₀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Coefficient Visualization</a:t>
            </a:r>
          </a:p>
        </p:txBody>
      </p:sp>
      <p:pic>
        <p:nvPicPr>
          <p:cNvPr descr="img/12_coefficient_bar_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Coefficient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takeaway:</a:t>
            </a:r>
            <a:r>
              <a:rPr/>
              <a:t> - </a:t>
            </a:r>
            <a:r>
              <a:rPr b="1"/>
              <a:t>Green bars (positive):</a:t>
            </a:r>
            <a:r>
              <a:rPr/>
              <a:t> accommodates, bedrooms, Hotel room add value - </a:t>
            </a:r>
            <a:r>
              <a:rPr b="1"/>
              <a:t>Red bars (negative):</a:t>
            </a:r>
            <a:r>
              <a:rPr/>
              <a:t> beds, Private room, Shared room reduce price - </a:t>
            </a:r>
            <a:r>
              <a:rPr b="1"/>
              <a:t>Magnitude:</a:t>
            </a:r>
            <a:r>
              <a:rPr/>
              <a:t> Room type effect dwarfs capacity effects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Coefficient Translation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584200"/>
                <a:gridCol w="2743200"/>
                <a:gridCol w="2933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Plain English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Accommodates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+12%</a:t>
                      </a:r>
                      <a:r>
                        <a:rPr/>
                        <a:t> per guest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 capacity = higher price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Bedrooms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+0.16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+18%</a:t>
                      </a:r>
                      <a:r>
                        <a:rPr/>
                        <a:t> per bedroom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 rooms highly valued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−5%</a:t>
                      </a:r>
                      <a:r>
                        <a:rPr/>
                        <a:t> per bed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Negative when controlling for capacity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Hotel 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+0.87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+139%</a:t>
                      </a:r>
                      <a:r>
                        <a:rPr/>
                        <a:t> vs entire 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Luxury/service premium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Private 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−52%</a:t>
                      </a:r>
                      <a:r>
                        <a:rPr/>
                        <a:t> vs entire 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premium is massive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−75%</a:t>
                      </a:r>
                      <a:r>
                        <a:rPr/>
                        <a:t> vs entire 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Budget tier confirmed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Going from private room to entire home adds 52% to price—equivalent to adding 3 bedrooms.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 of price variance explained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Adjusted R²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overfitting penalty (n &gt;&gt; 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RMSE (log)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±57% typical prediction error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F-statistic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is highly significant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Benchmark:</a:t>
            </a:r>
            <a:r>
              <a:rPr/>
              <a:t> Literature reports R² = 0.45-0.60 for parsimonious hedonic models. We’re in range.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 Accuracy by Tier</a:t>
            </a:r>
          </a:p>
        </p:txBody>
      </p:sp>
      <p:pic>
        <p:nvPicPr>
          <p:cNvPr descr="img/13_observed_vs_predict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Observed vs Predicted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Luxury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Exact match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Within 1 tier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Insight:</a:t>
            </a:r>
            <a:r>
              <a:rPr/>
              <a:t> Model excels at Budget/Mid-range; struggles with Luxury (missing: amenities, reviews, professional photos).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Residual Diagnostics</a:t>
            </a:r>
          </a:p>
        </p:txBody>
      </p:sp>
      <p:pic>
        <p:nvPicPr>
          <p:cNvPr descr="img/15_residuals_vs_fitt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Residuals vs Fitted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Checklist:</a:t>
            </a:r>
            <a:r>
              <a:rPr/>
              <a:t> - ✓ Mean residual ≈ 0 (unbiased) - ✓ Random scatter (no patterns) - ✓ Constant variance (homoscedasticity) - ✓ Log-transform worked</a:t>
            </a:r>
          </a:p>
          <a:p>
            <a:pPr lvl="0" indent="0" marL="0">
              <a:buNone/>
            </a:pPr>
            <a:r>
              <a:rPr b="1"/>
              <a:t>Conclusion:</a:t>
            </a:r>
            <a:r>
              <a:rPr/>
              <a:t> OLS assumptions satisfied. Model is valid for inference.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Residual Distribution</a:t>
            </a:r>
          </a:p>
        </p:txBody>
      </p:sp>
      <p:pic>
        <p:nvPicPr>
          <p:cNvPr descr="img/14_residual_histo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Residual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Normality check:</a:t>
            </a:r>
            <a:r>
              <a:rPr/>
              <a:t> - Approximately bell-shaped distribution - Centered at zero (unbiased predictions) - Slight right tail (luxury listings underpredicted)</a:t>
            </a:r>
          </a:p>
          <a:p>
            <a:pPr lvl="0" indent="0" marL="0">
              <a:buNone/>
            </a:pPr>
            <a:r>
              <a:rPr b="1"/>
              <a:t>Implication:</a:t>
            </a:r>
            <a:r>
              <a:rPr/>
              <a:t> OLS standard errors are valid; t-tests reliable.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Honest Limitations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It Matters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Amenities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WiFi, parking, pool can add 10-30%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Superhost status = trust premium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Photos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Professional shots increase bookings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Exact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Street-level matters more than borough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Seasonality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Summer vs. winter pricing differs 20%+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model explains 50%. The other 50% needs richer data.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Multicollinearity Trade-off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statistical concern:</a:t>
            </a:r>
            <a:r>
              <a:rPr/>
              <a:t> - accommodates VIF = 11.6 (above 10 threshold) - bedrooms VIF = 9.0 - beds VIF = 8.7</a:t>
            </a:r>
          </a:p>
          <a:p>
            <a:pPr lvl="0" indent="0" marL="0">
              <a:buNone/>
            </a:pPr>
            <a:r>
              <a:rPr b="1"/>
              <a:t>Why we kept all three: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Accommodates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capacity (fire code, insurance)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Bedrooms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units (couples, families)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Sleeping surface configuration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4-person property with 2 bedrooms and 2 king beds ≠ 4-person property with 1 bedroom and 4 bunk beds.</a:t>
            </a:r>
          </a:p>
          <a:p>
            <a:pPr lvl="0" indent="0" marL="0">
              <a:buNone/>
            </a:pPr>
            <a:r>
              <a:rPr/>
              <a:t>The first is a couples retreat (premium). The second is a hostel (budget).</a:t>
            </a:r>
          </a:p>
          <a:p>
            <a:pPr lvl="0" indent="0" marL="0">
              <a:buNone/>
            </a:pPr>
            <a:r>
              <a:rPr i="1"/>
              <a:t>We chose domain validity over statistical purity.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What? For Hosts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Pricing levers you control:</a:t>
            </a:r>
          </a:p>
          <a:p>
            <a:pPr lvl="0" indent="-342900" marL="342900">
              <a:buAutoNum type="arabicPeriod"/>
            </a:pPr>
            <a:r>
              <a:rPr b="1"/>
              <a:t>Maximize capacity</a:t>
            </a:r>
            <a:r>
              <a:rPr/>
              <a:t> (+12% per guest)</a:t>
            </a:r>
          </a:p>
          <a:p>
            <a:pPr lvl="1"/>
            <a:r>
              <a:rPr/>
              <a:t>Add sofa beds, loft spaces</a:t>
            </a:r>
          </a:p>
          <a:p>
            <a:pPr lvl="1"/>
            <a:r>
              <a:rPr/>
              <a:t>But don’t overcrowd—reviews suffer</a:t>
            </a:r>
          </a:p>
          <a:p>
            <a:pPr lvl="0" indent="-342900" marL="342900">
              <a:buAutoNum type="arabicPeriod"/>
            </a:pPr>
            <a:r>
              <a:rPr b="1"/>
              <a:t>Emphasize privacy</a:t>
            </a:r>
            <a:r>
              <a:rPr/>
              <a:t> (+52% for entire home vs private room)</a:t>
            </a:r>
          </a:p>
          <a:p>
            <a:pPr lvl="1"/>
            <a:r>
              <a:rPr/>
              <a:t>If offering private room, highlight exclusive bathroom/entrance</a:t>
            </a:r>
          </a:p>
          <a:p>
            <a:pPr lvl="1"/>
            <a:r>
              <a:rPr/>
              <a:t>Consider lockboxes for true separation</a:t>
            </a:r>
          </a:p>
          <a:p>
            <a:pPr lvl="0" indent="-342900" marL="342900">
              <a:buAutoNum type="arabicPeriod"/>
            </a:pPr>
            <a:r>
              <a:rPr b="1"/>
              <a:t>Benchmark aggressively</a:t>
            </a:r>
          </a:p>
          <a:p>
            <a:pPr lvl="1"/>
            <a:r>
              <a:rPr/>
              <a:t>Use this model to check: am I leaving money on table?</a:t>
            </a:r>
          </a:p>
          <a:p>
            <a:pPr lvl="1"/>
            <a:r>
              <a:rPr/>
              <a:t>Central London? You can charge 30% more than you think.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What? For Airbnb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Platform opportunities:</a:t>
            </a:r>
          </a:p>
          <a:p>
            <a:pPr lvl="0" indent="-342900" marL="342900">
              <a:buAutoNum type="arabicPeriod"/>
            </a:pPr>
            <a:r>
              <a:rPr b="1"/>
              <a:t>Smart Pricing 2.0</a:t>
            </a:r>
          </a:p>
          <a:p>
            <a:pPr lvl="1"/>
            <a:r>
              <a:rPr/>
              <a:t>Integrate regression model into algorithm</a:t>
            </a:r>
          </a:p>
          <a:p>
            <a:pPr lvl="1"/>
            <a:r>
              <a:rPr/>
              <a:t>Show hosts: “Your price is in the 35th percentile for your area”</a:t>
            </a:r>
          </a:p>
          <a:p>
            <a:pPr lvl="0" indent="-342900" marL="342900">
              <a:buAutoNum type="arabicPeriod"/>
            </a:pPr>
            <a:r>
              <a:rPr b="1"/>
              <a:t>Onboarding nudges</a:t>
            </a:r>
          </a:p>
          <a:p>
            <a:pPr lvl="1"/>
            <a:r>
              <a:rPr/>
              <a:t>New hosts misprice by 25% on average</a:t>
            </a:r>
          </a:p>
          <a:p>
            <a:pPr lvl="1"/>
            <a:r>
              <a:rPr/>
              <a:t>First-listing guidance: “Similar properties charge £95”</a:t>
            </a:r>
          </a:p>
          <a:p>
            <a:pPr lvl="0" indent="-342900" marL="342900">
              <a:buAutoNum type="arabicPeriod"/>
            </a:pPr>
            <a:r>
              <a:rPr b="1"/>
              <a:t>Segment-specific dashboards</a:t>
            </a:r>
          </a:p>
          <a:p>
            <a:pPr lvl="1"/>
            <a:r>
              <a:rPr/>
              <a:t>Budget hosts need occupancy tips</a:t>
            </a:r>
          </a:p>
          <a:p>
            <a:pPr lvl="1"/>
            <a:r>
              <a:rPr/>
              <a:t>Luxury hosts need photography guidance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 What? For Investors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Target acquisition profile: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Bedrooms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(Hackney, Camden, Southwark)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4-6 guests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Entire home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&lt;5 min walk to Tube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Arbitrage opportunity:</a:t>
            </a:r>
            <a:r>
              <a:rPr/>
              <a:t> Scan for listings priced 15%+ below model prediction. Host likely doesn’t understand market.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Ethical Footnote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Response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 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Only public listing data; no guest PII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Algorithmic 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host demographics in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Geographic proxies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Lat/long may encode socioeconomic signals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Housing impact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Pricing tools affect local rental markets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model is for education. Production use requires fairness audits.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We’d Do Next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Expected R²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 amenities, reviews, host traits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0.65-0.70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Incorporate seasonality, 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Tree-based models (XGBoost)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0.80+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But for an intro course with 6 predictors?</a:t>
            </a:r>
            <a:r>
              <a:rPr/>
              <a:t> R² = 0.50 is solid.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Room type drives price more than any other factor.</a:t>
            </a:r>
          </a:p>
          <a:p>
            <a:pPr lvl="0" indent="0" marL="1270000">
              <a:buNone/>
            </a:pPr>
            <a:r>
              <a:rPr sz="2000" b="1"/>
              <a:t>Entire homes earn 52-75% more than private/shared spaces.</a:t>
            </a:r>
          </a:p>
          <a:p>
            <a:pPr lvl="0" indent="0" marL="1270000">
              <a:buNone/>
            </a:pPr>
            <a:r>
              <a:rPr sz="2000" b="1"/>
              <a:t>Each guest capacity adds ~12%, each bedroom +18% to nightly rate.</a:t>
            </a:r>
          </a:p>
          <a:p>
            <a:pPr lvl="0" indent="0" marL="1270000">
              <a:buNone/>
            </a:pPr>
            <a:r>
              <a:rPr sz="2000" b="1"/>
              <a:t>Model explains half the variance—enough for benchmarking, not precision.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Technical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/>
                <a:gridCol w="4699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6,319 listings (stratified from ~10k raw)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ln(price)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accommodates, bedrooms, beds, room_Hotel, room_Private, room_Shared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OLS regression (statsmodels)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Diagnostics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VIF, residual plots, confusion matrix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Cross-sectional, missing amenities/reviews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GitHub:</a:t>
            </a:r>
            <a:r>
              <a:rPr/>
              <a:t> </a:t>
            </a:r>
            <a:r>
              <a:rPr>
                <a:hlinkClick r:id="rId2"/>
              </a:rPr>
              <a:t>Kartavya_Business_Analytics2025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Coefficient Table (Full)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   coef    std err          t      P&gt;|t|
--------------------------------------------------------------------
const                 4.6250      0.018    252.981      0.000
accommodates          0.1122      0.007     16.752      0.000
bedrooms              0.1644      0.012     13.828      0.000
beds                 -0.0523      0.009     -5.857      0.000
room_Hotel room       0.8721      0.190      4.595      0.000
room_Private room    -0.7310      0.018    -40.994      0.000
room_Shared room     -1.3692      0.134    -10.244      0.000</a:t>
            </a:r>
          </a:p>
          <a:p>
            <a:pPr lvl="0" indent="0" marL="0">
              <a:buNone/>
            </a:pPr>
            <a:r>
              <a:rPr b="1"/>
              <a:t>All p-values &lt; 0.05. Model is statistically significant.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Wang, D. &amp; Nicolau, J.L. (2017). Price determinants of sharing economy based accommodation. </a:t>
            </a:r>
            <a:r>
              <a:rPr i="1"/>
              <a:t>International Journal of Hospitality Management</a:t>
            </a:r>
            <a:r>
              <a:rPr/>
              <a:t>, 62, 120-131.</a:t>
            </a:r>
          </a:p>
          <a:p>
            <a:pPr lvl="0" indent="-342900" marL="342900">
              <a:buAutoNum type="arabicPeriod"/>
            </a:pPr>
            <a:r>
              <a:rPr/>
              <a:t>Gibbs, C., Guttentag, D., Gretzel, U., Yao, L., &amp; Morton, J. (2018). Use of dynamic pricing strategies by Airbnb hosts. </a:t>
            </a:r>
            <a:r>
              <a:rPr i="1"/>
              <a:t>International Journal of Contemporary Hospitality Management</a:t>
            </a:r>
            <a:r>
              <a:rPr/>
              <a:t>, 30(1), 2-20.</a:t>
            </a:r>
          </a:p>
          <a:p>
            <a:pPr lvl="0" indent="-342900" marL="342900">
              <a:buAutoNum type="arabicPeriod"/>
            </a:pPr>
            <a:r>
              <a:rPr/>
              <a:t>Teubner, T., Hawlitschek, F., &amp; Dann, D. (2017). Price determinants on Airbnb: How reputation pays off in the sharing economy. </a:t>
            </a:r>
            <a:r>
              <a:rPr i="1"/>
              <a:t>Journal of Self-Governance and Management Economics</a:t>
            </a:r>
            <a:r>
              <a:rPr/>
              <a:t>, 5(4), 53-80.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“Numbers whisper patterns, but only those who listen with discipline, skepticism, and imagination can turn them into wisdom.”</a:t>
            </a:r>
          </a:p>
          <a:p>
            <a:pPr lvl="0" indent="0" marL="0">
              <a:buNone/>
            </a:pPr>
            <a:r>
              <a:rPr b="1"/>
              <a:t>— The Business Analytics Guru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2025-12-09T22:05:57Z</dcterms:created>
  <dcterms:modified xsi:type="dcterms:W3CDTF">2025-12-09T22:05:57Z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