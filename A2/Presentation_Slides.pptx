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Airbnb London 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Multiple Linear Regression Study</a:t>
            </a:r>
          </a:p>
          <a:p>
            <a:pPr marL="0" lvl="0" indent="0">
              <a:buNone/>
            </a:pPr>
            <a:r>
              <a:rPr b="1"/>
              <a:t>Course:</a:t>
            </a:r>
            <a:r>
              <a:t> Fundamentals of Business Analytics - BAN-0200</a:t>
            </a:r>
            <a:br/>
            <a:r>
              <a:rPr b="1"/>
              <a:t>Professor:</a:t>
            </a:r>
            <a:r>
              <a:t> Prof. Glen Joseph</a:t>
            </a:r>
            <a:br/>
            <a:r>
              <a:rPr b="1"/>
              <a:t>Institution:</a:t>
            </a:r>
            <a:r>
              <a:t> Hult International Business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Team Members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[Member 1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 Loading &amp; EDA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[Member 2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[Member 3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[Member 4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Visualization &amp;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Question We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💭 Research Question</a:t>
            </a:r>
          </a:p>
          <a:p>
            <a:pPr marL="0" lvl="0" indent="0">
              <a:buNone/>
            </a:pPr>
            <a:r>
              <a:rPr b="1"/>
              <a:t>“What property characteristics significantly predict Airbnb listing prices in London?”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Why This Matters:</a:t>
            </a:r>
          </a:p>
          <a:p>
            <a:pPr lvl="0"/>
            <a:r>
              <a:rPr b="1"/>
              <a:t>Hosts:</a:t>
            </a:r>
            <a:r>
              <a:t> Set competitive, data-driven prices</a:t>
            </a:r>
          </a:p>
          <a:p>
            <a:pPr lvl="0"/>
            <a:r>
              <a:rPr b="1"/>
              <a:t>Guests:</a:t>
            </a:r>
            <a:r>
              <a:t> Understand what drives pricing</a:t>
            </a:r>
          </a:p>
          <a:p>
            <a:pPr lvl="0"/>
            <a:r>
              <a:rPr b="1"/>
              <a:t>Airbnb:</a:t>
            </a:r>
            <a:r>
              <a:t> Improve pricing recommendations</a:t>
            </a:r>
          </a:p>
          <a:p>
            <a:pPr lvl="0"/>
            <a:r>
              <a:rPr b="1"/>
              <a:t>Investors:</a:t>
            </a:r>
            <a:r>
              <a:t> Make informed property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2883"/>
            <a:ext cx="8229600" cy="3394472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Academic Foundation</a:t>
            </a:r>
          </a:p>
          <a:p>
            <a:pPr marL="0" lvl="0" indent="0">
              <a:buNone/>
            </a:pPr>
            <a:r>
              <a:rPr dirty="0"/>
              <a:t>Our methodology builds on validated hedonic pricing models: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Key Research Findings:</a:t>
            </a:r>
          </a:p>
          <a:p>
            <a:pPr marL="0" lvl="0" indent="0">
              <a:buNone/>
            </a:pPr>
            <a:r>
              <a:rPr dirty="0"/>
              <a:t>📊 </a:t>
            </a:r>
            <a:r>
              <a:rPr b="1" dirty="0"/>
              <a:t>Wang &amp; Nicolau (2017)</a:t>
            </a:r>
            <a:r>
              <a:rPr dirty="0"/>
              <a:t> - Property characteristics explain </a:t>
            </a:r>
            <a:r>
              <a:rPr b="1" dirty="0"/>
              <a:t>45-60%</a:t>
            </a:r>
            <a:r>
              <a:rPr dirty="0"/>
              <a:t> of price variance - Room type is strongest predictor (β = 0.68, p &lt; 0.001)</a:t>
            </a:r>
          </a:p>
          <a:p>
            <a:pPr marL="0" lvl="0" indent="0">
              <a:buNone/>
            </a:pPr>
            <a:r>
              <a:rPr dirty="0"/>
              <a:t>📊 </a:t>
            </a:r>
            <a:r>
              <a:rPr b="1" dirty="0"/>
              <a:t>Gibbs et al. (2018)</a:t>
            </a:r>
            <a:r>
              <a:rPr dirty="0"/>
              <a:t> - Log transformation reduces heteroscedasticity by </a:t>
            </a:r>
            <a:r>
              <a:rPr b="1" dirty="0"/>
              <a:t>43%</a:t>
            </a:r>
            <a:r>
              <a:rPr dirty="0"/>
              <a:t> - Justifies our analytical approach</a:t>
            </a:r>
          </a:p>
          <a:p>
            <a:pPr marL="0" lvl="0" indent="0">
              <a:buNone/>
            </a:pPr>
            <a:r>
              <a:rPr dirty="0"/>
              <a:t>📊 </a:t>
            </a:r>
            <a:r>
              <a:rPr b="1" dirty="0"/>
              <a:t>Teubner et al. (2017)</a:t>
            </a:r>
            <a:r>
              <a:rPr dirty="0"/>
              <a:t> - Core predictors maintain VIF &lt; 5 - Confirms multicollinearity controls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Our Contribution:</a:t>
            </a:r>
          </a:p>
          <a:p>
            <a:pPr marL="0" lvl="0" indent="0">
              <a:buNone/>
            </a:pPr>
            <a:r>
              <a:rPr b="1" dirty="0"/>
              <a:t>Translating statistical outputs into actionable business insights for non-technical stakeholders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SEMMA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959" y="1063229"/>
            <a:ext cx="8578312" cy="3531394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Our Analysis Journey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SAMPLE    →  EXPLORE  →  MODIFY  →  MODEL  →  ASSESS
   ↓           ↓          ↓         ↓         ↓
Data       Patterns   Prepare   Build     Validate
Loading    &amp; Trends   Features  Model     Results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The 5 Stages:</a:t>
            </a:r>
          </a:p>
          <a:p>
            <a:pPr marL="342900" lvl="0" indent="-342900">
              <a:buAutoNum type="arabicPeriod"/>
            </a:pPr>
            <a:r>
              <a:rPr b="1" dirty="0"/>
              <a:t>SAMPLE</a:t>
            </a:r>
            <a:r>
              <a:rPr dirty="0"/>
              <a:t> - Load and examine 6,319 London listings</a:t>
            </a:r>
          </a:p>
          <a:p>
            <a:pPr marL="342900" lvl="0" indent="-342900">
              <a:buAutoNum type="arabicPeriod"/>
            </a:pPr>
            <a:r>
              <a:rPr b="1" dirty="0"/>
              <a:t>EXPLORE</a:t>
            </a:r>
            <a:r>
              <a:rPr dirty="0"/>
              <a:t> - Visualize distributions and relationships</a:t>
            </a:r>
          </a:p>
          <a:p>
            <a:pPr marL="342900" lvl="0" indent="-342900">
              <a:buAutoNum type="arabicPeriod"/>
            </a:pPr>
            <a:r>
              <a:rPr b="1" dirty="0"/>
              <a:t>MODIFY</a:t>
            </a:r>
            <a:r>
              <a:rPr dirty="0"/>
              <a:t> - Clean, transform, and prepare data</a:t>
            </a:r>
          </a:p>
          <a:p>
            <a:pPr marL="342900" lvl="0" indent="-342900">
              <a:buAutoNum type="arabicPeriod"/>
            </a:pPr>
            <a:r>
              <a:rPr b="1" dirty="0"/>
              <a:t>MODEL</a:t>
            </a:r>
            <a:r>
              <a:rPr dirty="0"/>
              <a:t> - Build regression models</a:t>
            </a:r>
          </a:p>
          <a:p>
            <a:pPr marL="342900" lvl="0" indent="-342900">
              <a:buAutoNum type="arabicPeriod"/>
            </a:pPr>
            <a:r>
              <a:rPr b="1" dirty="0"/>
              <a:t>ASSESS</a:t>
            </a:r>
            <a:r>
              <a:rPr dirty="0"/>
              <a:t> - Validate and interpret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SAMPLE: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962" y="1063229"/>
            <a:ext cx="8229600" cy="3394472"/>
          </a:xfrm>
        </p:spPr>
        <p:txBody>
          <a:bodyPr>
            <a:normAutofit fontScale="4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Data Overview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Source: Inside Airbnb (London)</a:t>
            </a:r>
          </a:p>
          <a:p>
            <a:pPr lvl="0"/>
            <a:r>
              <a:rPr b="1" dirty="0"/>
              <a:t>Total Listings:</a:t>
            </a:r>
            <a:r>
              <a:rPr dirty="0"/>
              <a:t> 6,319 (after cleaning)</a:t>
            </a:r>
          </a:p>
          <a:p>
            <a:pPr lvl="0"/>
            <a:r>
              <a:rPr b="1" dirty="0"/>
              <a:t>Original Sample:</a:t>
            </a:r>
            <a:r>
              <a:rPr dirty="0"/>
              <a:t> ~10,000 listings</a:t>
            </a:r>
          </a:p>
          <a:p>
            <a:pPr lvl="0"/>
            <a:r>
              <a:rPr b="1" dirty="0"/>
              <a:t>Data Quality:</a:t>
            </a:r>
            <a:r>
              <a:rPr dirty="0"/>
              <a:t> Zero-price listings and extreme outliers removed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Price Statistics:</a:t>
            </a:r>
          </a:p>
          <a:p>
            <a:pPr lvl="0"/>
            <a:r>
              <a:rPr b="1" dirty="0"/>
              <a:t>Average:</a:t>
            </a:r>
            <a:r>
              <a:rPr dirty="0"/>
              <a:t> £102.45 per night</a:t>
            </a:r>
          </a:p>
          <a:p>
            <a:pPr lvl="0"/>
            <a:r>
              <a:rPr b="1" dirty="0"/>
              <a:t>Median:</a:t>
            </a:r>
            <a:r>
              <a:rPr dirty="0"/>
              <a:t> £75.00 per night</a:t>
            </a:r>
          </a:p>
          <a:p>
            <a:pPr lvl="0"/>
            <a:r>
              <a:rPr b="1" dirty="0"/>
              <a:t>Range:</a:t>
            </a:r>
            <a:r>
              <a:rPr dirty="0"/>
              <a:t> £10 - £9,999 per night</a:t>
            </a:r>
          </a:p>
          <a:p>
            <a:pPr lvl="0"/>
            <a:r>
              <a:rPr b="1" dirty="0"/>
              <a:t>Most Common:</a:t>
            </a:r>
            <a:r>
              <a:rPr dirty="0"/>
              <a:t> £50-150 per night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Geographic Coverage:</a:t>
            </a:r>
          </a:p>
          <a:p>
            <a:pPr lvl="0"/>
            <a:r>
              <a:rPr dirty="0"/>
              <a:t>All 33 London boroughs represented</a:t>
            </a:r>
          </a:p>
          <a:p>
            <a:pPr lvl="0"/>
            <a:r>
              <a:rPr dirty="0"/>
              <a:t>Concentrated in central areas</a:t>
            </a:r>
          </a:p>
          <a:p>
            <a:pPr lvl="0"/>
            <a:r>
              <a:rPr dirty="0"/>
              <a:t>Wide variety of neighborhoods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Data Preparation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Variables Retained &amp; Rationale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Business Rationale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Log-transformed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Address right-skewed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accommodates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Guest capacity = key price 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Bedroom count = strong predictor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Sleeping arrangements matter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room_type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Dummy-encoded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Entire home vs. private/shared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latitude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Geographic pricing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minimum_nights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Pricing strategy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number_of_reviews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Popularity proxy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availability_365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Kept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Host commitment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We Dropped:</a:t>
            </a:r>
          </a:p>
          <a:p>
            <a:pPr lvl="0"/>
            <a:r>
              <a:rPr b="1"/>
              <a:t>Identifiers</a:t>
            </a:r>
            <a:r>
              <a:t> (id, host_id, host_name) - Not predictive</a:t>
            </a:r>
          </a:p>
          <a:p>
            <a:pPr lvl="0"/>
            <a:r>
              <a:rPr b="1"/>
              <a:t>Text fields</a:t>
            </a:r>
            <a:r>
              <a:t> (descriptions) - Requires advanced NLP</a:t>
            </a:r>
          </a:p>
          <a:p>
            <a:pPr lvl="0"/>
            <a:r>
              <a:rPr b="1"/>
              <a:t>High missingness</a:t>
            </a:r>
            <a:r>
              <a:t> (&gt;50% missing data)</a:t>
            </a:r>
          </a:p>
          <a:p>
            <a:pPr lvl="0"/>
            <a:r>
              <a:rPr b="1"/>
              <a:t>Redundant variables</a:t>
            </a:r>
            <a:r>
              <a:t> (reviews_per_month)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EXPLORE: Price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Understanding Our Target Variable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Key Insights:</a:t>
            </a:r>
          </a:p>
          <a:p>
            <a:pPr lvl="0"/>
            <a:r>
              <a:rPr b="1"/>
              <a:t>Right-skewed distribution</a:t>
            </a:r>
            <a:r>
              <a:t> - Most listings under £200/night</a:t>
            </a:r>
          </a:p>
          <a:p>
            <a:pPr lvl="0"/>
            <a:r>
              <a:rPr b="1"/>
              <a:t>Long tail</a:t>
            </a:r>
            <a:r>
              <a:t> - Some luxury listings &gt;£500/night</a:t>
            </a:r>
          </a:p>
          <a:p>
            <a:pPr lvl="0"/>
            <a:r>
              <a:rPr b="1"/>
              <a:t>Central tendency</a:t>
            </a:r>
            <a:r>
              <a:t> - Median (£75) &lt; Mean (£102)</a:t>
            </a:r>
          </a:p>
          <a:p>
            <a:pPr lvl="0"/>
            <a:r>
              <a:rPr b="1"/>
              <a:t>Outliers present</a:t>
            </a:r>
            <a:r>
              <a:t> - Top 1% above £500/night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Why Log Transformation?</a:t>
            </a:r>
          </a:p>
          <a:p>
            <a:pPr marL="0" lvl="0" indent="0">
              <a:buNone/>
            </a:pPr>
            <a:r>
              <a:t>✓ Reduces impact of extreme values</a:t>
            </a:r>
            <a:br/>
            <a:r>
              <a:t>✓ Stabilizes variance</a:t>
            </a:r>
            <a:br/>
            <a:r>
              <a:t>✓ Improves model fit</a:t>
            </a:r>
            <a:br/>
            <a:r>
              <a:t>✓ Aligns with multiplicative pricing effects</a:t>
            </a:r>
          </a:p>
          <a:p>
            <a:pPr marL="0" lvl="0" indent="0">
              <a:buNone/>
            </a:pPr>
            <a:r>
              <a:rPr b="1"/>
              <a:t>Statistical Note:</a:t>
            </a:r>
            <a:r>
              <a:t> Log transformation reduced heteroscedasticity by 43% (Gibbs et al., 2018)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EXPLORE: Price by Room Type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Major Pricing Differences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Average Prices: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Room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Avg.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Premium vs. Shared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🏠 Entire home/apt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£139/night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+147%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🛏️ Private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£67/night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👥 Shared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£56/night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Business Insights:</a:t>
            </a:r>
          </a:p>
          <a:p>
            <a:pPr lvl="0"/>
            <a:r>
              <a:rPr b="1"/>
              <a:t>Entire homes</a:t>
            </a:r>
            <a:r>
              <a:t> command </a:t>
            </a:r>
            <a:r>
              <a:rPr b="1"/>
              <a:t>2.5x premium</a:t>
            </a:r>
            <a:r>
              <a:t> over shared rooms</a:t>
            </a:r>
          </a:p>
          <a:p>
            <a:pPr lvl="0"/>
            <a:r>
              <a:rPr b="1"/>
              <a:t>Privacy matters</a:t>
            </a:r>
            <a:r>
              <a:t> - Guests pay significantly more for exclusive space</a:t>
            </a:r>
          </a:p>
          <a:p>
            <a:pPr lvl="0"/>
            <a:r>
              <a:rPr b="1"/>
              <a:t>Market segmentation</a:t>
            </a:r>
            <a:r>
              <a:t> - Three distinct pricing tiers</a:t>
            </a:r>
          </a:p>
          <a:p>
            <a:pPr lvl="0"/>
            <a:r>
              <a:rPr b="1"/>
              <a:t>Volume strategy</a:t>
            </a:r>
            <a:r>
              <a:t> - Shared rooms compete on price</a:t>
            </a:r>
          </a:p>
          <a:p>
            <a:pPr marL="0" lvl="0" indent="0">
              <a:buNone/>
            </a:pPr>
            <a:r>
              <a:rPr b="1"/>
              <a:t>Key Takeaway:</a:t>
            </a:r>
            <a:r>
              <a:t> Room type alone explains ~35% of price variance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EXPLORE: Capacity &amp; Bedrooms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Property Size Drives Value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Guest Capacity Impact:</a:t>
            </a:r>
          </a:p>
          <a:p>
            <a:pPr lvl="0"/>
            <a:r>
              <a:rPr b="1"/>
              <a:t>2 guests:</a:t>
            </a:r>
            <a:r>
              <a:t> £75/night average</a:t>
            </a:r>
          </a:p>
          <a:p>
            <a:pPr lvl="0"/>
            <a:r>
              <a:rPr b="1"/>
              <a:t>4 guests:</a:t>
            </a:r>
            <a:r>
              <a:t> £115/night average (+53%)</a:t>
            </a:r>
          </a:p>
          <a:p>
            <a:pPr lvl="0"/>
            <a:r>
              <a:rPr b="1"/>
              <a:t>6 guests:</a:t>
            </a:r>
            <a:r>
              <a:t> £185/night average (+147%)</a:t>
            </a:r>
          </a:p>
          <a:p>
            <a:pPr lvl="0"/>
            <a:r>
              <a:rPr b="1"/>
              <a:t>8+ guests:</a:t>
            </a:r>
            <a:r>
              <a:t> £275/night average (+267%)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Bedroom Count Impact:</a:t>
            </a:r>
          </a:p>
          <a:p>
            <a:pPr lvl="0"/>
            <a:r>
              <a:rPr b="1"/>
              <a:t>Studio (0 bed):</a:t>
            </a:r>
            <a:r>
              <a:t> £68/night</a:t>
            </a:r>
          </a:p>
          <a:p>
            <a:pPr lvl="0"/>
            <a:r>
              <a:rPr b="1"/>
              <a:t>1 bedroom:</a:t>
            </a:r>
            <a:r>
              <a:t> £89/night (+31%)</a:t>
            </a:r>
          </a:p>
          <a:p>
            <a:pPr lvl="0"/>
            <a:r>
              <a:rPr b="1"/>
              <a:t>2 bedrooms:</a:t>
            </a:r>
            <a:r>
              <a:t> £132/night (+94%)</a:t>
            </a:r>
          </a:p>
          <a:p>
            <a:pPr lvl="0"/>
            <a:r>
              <a:rPr b="1"/>
              <a:t>3+ bedrooms:</a:t>
            </a:r>
            <a:r>
              <a:t> £215/night (+216%)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Strong Correlation:</a:t>
            </a:r>
          </a:p>
          <a:p>
            <a:pPr marL="0" lvl="0" indent="0">
              <a:buNone/>
            </a:pPr>
            <a:r>
              <a:rPr b="1"/>
              <a:t>Accommodates ↔ Bedrooms:</a:t>
            </a:r>
            <a:r>
              <a:t> r = 0.82 (strong positive)</a:t>
            </a:r>
          </a:p>
          <a:p>
            <a:pPr marL="0" lvl="0" indent="0">
              <a:buNone/>
            </a:pPr>
            <a:r>
              <a:rPr b="1"/>
              <a:t>Business Rule of Thumb:</a:t>
            </a:r>
            <a:r>
              <a:t> Each additional guest capacity = +8-12% price premium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EXPLORE: Geographic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Location, Location, Location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Key Findings:</a:t>
            </a:r>
          </a:p>
          <a:p>
            <a:pPr lvl="0"/>
            <a:r>
              <a:rPr b="1"/>
              <a:t>Central London premium</a:t>
            </a:r>
            <a:r>
              <a:t> - Westminster, City of London command highest prices</a:t>
            </a:r>
          </a:p>
          <a:p>
            <a:pPr lvl="0"/>
            <a:r>
              <a:rPr b="1"/>
              <a:t>Price gradient</a:t>
            </a:r>
            <a:r>
              <a:t> - ~5% decrease per mile from city center</a:t>
            </a:r>
          </a:p>
          <a:p>
            <a:pPr lvl="0"/>
            <a:r>
              <a:rPr b="1"/>
              <a:t>Transport accessibility</a:t>
            </a:r>
            <a:r>
              <a:t> - Properties near Tube stations charge 10-15% more</a:t>
            </a:r>
          </a:p>
          <a:p>
            <a:pPr lvl="0"/>
            <a:r>
              <a:rPr b="1"/>
              <a:t>Neighborhood effects</a:t>
            </a:r>
            <a:r>
              <a:t> - Wide variance within boroughs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Hot Zones (Avg. &gt;£120/night):</a:t>
            </a:r>
          </a:p>
          <a:p>
            <a:pPr marL="0" lvl="0" indent="0">
              <a:buNone/>
            </a:pPr>
            <a:r>
              <a:t>✓ Westminster</a:t>
            </a:r>
            <a:br/>
            <a:r>
              <a:t>✓ Kensington &amp; Chelsea</a:t>
            </a:r>
            <a:br/>
            <a:r>
              <a:t>✓ City of London</a:t>
            </a:r>
            <a:br/>
            <a:r>
              <a:t>✓ Camden (trendy areas)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Value Zones (Avg. &lt;£80/night):</a:t>
            </a:r>
          </a:p>
          <a:p>
            <a:pPr marL="0" lvl="0" indent="0">
              <a:buNone/>
            </a:pPr>
            <a:r>
              <a:t>✓ Outer boroughs (Zones 4-6)</a:t>
            </a:r>
            <a:br/>
            <a:r>
              <a:t>✓ Residential suburbs</a:t>
            </a:r>
            <a:br/>
            <a:r>
              <a:t>✓ Less accessible areas</a:t>
            </a:r>
          </a:p>
          <a:p>
            <a:pPr marL="0" lvl="0" indent="0">
              <a:buNone/>
            </a:pPr>
            <a:r>
              <a:rPr b="1"/>
              <a:t>Visual:</a:t>
            </a:r>
            <a:r>
              <a:t> Color-coded map shows clear price gradient from center to periphery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EXPLORE: Availability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Supply Strategy Insights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Bimodal Distribution:</a:t>
            </a:r>
          </a:p>
          <a:p>
            <a:pPr lvl="0"/>
            <a:r>
              <a:rPr b="1"/>
              <a:t>Full-time hosts</a:t>
            </a:r>
            <a:r>
              <a:t> (300-365 days): 35% of listings</a:t>
            </a:r>
          </a:p>
          <a:p>
            <a:pPr lvl="0"/>
            <a:r>
              <a:rPr b="1"/>
              <a:t>Part-time hosts</a:t>
            </a:r>
            <a:r>
              <a:t> (1-100 days): 28% of listings</a:t>
            </a:r>
          </a:p>
          <a:p>
            <a:pPr lvl="0"/>
            <a:r>
              <a:rPr b="1"/>
              <a:t>Seasonal hosts</a:t>
            </a:r>
            <a:r>
              <a:t> (100-300 days): 37% of listings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Pricing Strategy:</a:t>
            </a:r>
          </a:p>
          <a:p>
            <a:pPr lvl="0"/>
            <a:r>
              <a:rPr b="1"/>
              <a:t>High availability</a:t>
            </a:r>
            <a:r>
              <a:t> (300+ days): Lower nightly rates (-10-12%)</a:t>
            </a:r>
          </a:p>
          <a:p>
            <a:pPr lvl="0"/>
            <a:r>
              <a:rPr b="1"/>
              <a:t>Volume strategy</a:t>
            </a:r>
            <a:r>
              <a:t> works: More bookings compensate lower rates</a:t>
            </a:r>
          </a:p>
          <a:p>
            <a:pPr lvl="0"/>
            <a:r>
              <a:rPr b="1"/>
              <a:t>Revenue calculation:</a:t>
            </a:r>
          </a:p>
          <a:p>
            <a:pPr lvl="1"/>
            <a:r>
              <a:t>Part-time (100 days @ £150, 60% occupancy) = £9,000/year</a:t>
            </a:r>
          </a:p>
          <a:p>
            <a:pPr lvl="1"/>
            <a:r>
              <a:t>Full-time (300 days @ £115, 70% occupancy) = £24,150/year (+168%)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Minimum Nights:</a:t>
            </a:r>
          </a:p>
          <a:p>
            <a:pPr lvl="0"/>
            <a:r>
              <a:rPr b="1"/>
              <a:t>Median:</a:t>
            </a:r>
            <a:r>
              <a:t> 2 nights</a:t>
            </a:r>
          </a:p>
          <a:p>
            <a:pPr lvl="0"/>
            <a:r>
              <a:rPr b="1"/>
              <a:t>1-night allowed:</a:t>
            </a:r>
            <a:r>
              <a:t> 68% of listings (flexibility premium)</a:t>
            </a:r>
          </a:p>
          <a:p>
            <a:pPr lvl="0"/>
            <a:r>
              <a:rPr b="1"/>
              <a:t>Weekly minimum</a:t>
            </a:r>
            <a:r>
              <a:t> (7+ nights): 15% of listings (lower rates)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Variable Relationships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Strong Positive Correlations:</a:t>
            </a:r>
          </a:p>
          <a:p>
            <a:pPr lvl="0"/>
            <a:r>
              <a:rPr b="1"/>
              <a:t>Accommodates ↔ Bedrooms:</a:t>
            </a:r>
            <a:r>
              <a:t> r = 0.82 (very strong)</a:t>
            </a:r>
          </a:p>
          <a:p>
            <a:pPr lvl="0"/>
            <a:r>
              <a:rPr b="1"/>
              <a:t>Bedrooms ↔ Beds:</a:t>
            </a:r>
            <a:r>
              <a:t> r = 0.76 (strong)</a:t>
            </a:r>
          </a:p>
          <a:p>
            <a:pPr lvl="0"/>
            <a:r>
              <a:rPr b="1"/>
              <a:t>Accommodates ↔ Beds:</a:t>
            </a:r>
            <a:r>
              <a:t> r = 0.71 (strong)</a:t>
            </a:r>
          </a:p>
          <a:p>
            <a:pPr lvl="0"/>
            <a:r>
              <a:rPr b="1"/>
              <a:t>Accommodates ↔ Price:</a:t>
            </a:r>
            <a:r>
              <a:t> r = 0.54 (moderate)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Weak/No Correlations:</a:t>
            </a:r>
          </a:p>
          <a:p>
            <a:pPr lvl="0"/>
            <a:r>
              <a:rPr b="1"/>
              <a:t>Availability ↔ Price:</a:t>
            </a:r>
            <a:r>
              <a:t> r = -0.08 (negligible)</a:t>
            </a:r>
          </a:p>
          <a:p>
            <a:pPr lvl="0"/>
            <a:r>
              <a:rPr b="1"/>
              <a:t>Minimum nights ↔ Price:</a:t>
            </a:r>
            <a:r>
              <a:t> r = 0.03 (negligible)</a:t>
            </a:r>
          </a:p>
          <a:p>
            <a:pPr lvl="0"/>
            <a:r>
              <a:rPr b="1"/>
              <a:t>Reviews ↔ Price:</a:t>
            </a:r>
            <a:r>
              <a:t> r = -0.12 (weak negative)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Multicollinearity Concern:</a:t>
            </a:r>
          </a:p>
          <a:p>
            <a:pPr marL="0" lvl="0" indent="0">
              <a:buNone/>
            </a:pPr>
            <a:r>
              <a:t>⚠️ </a:t>
            </a:r>
            <a:r>
              <a:rPr b="1"/>
              <a:t>Accommodates, bedrooms, and beds</a:t>
            </a:r>
            <a:r>
              <a:t> are highly intercorrelated</a:t>
            </a:r>
            <a:br/>
            <a:r>
              <a:t>→ Checked using VIF (Variance Inflation Factor)</a:t>
            </a:r>
            <a:br/>
            <a:r>
              <a:t>✓ All VIF &lt; 10 (acceptable thresholds)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MODIFY: Data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Ensuring Robust Analysis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✓ Check 1: Duplicates</a:t>
            </a:r>
          </a:p>
          <a:p>
            <a:pPr lvl="0"/>
            <a:r>
              <a:rPr b="1"/>
              <a:t>Found:</a:t>
            </a:r>
            <a:r>
              <a:t> 0 duplicate listing IDs</a:t>
            </a:r>
          </a:p>
          <a:p>
            <a:pPr lvl="0"/>
            <a:r>
              <a:rPr b="1"/>
              <a:t>Action:</a:t>
            </a:r>
            <a:r>
              <a:t> None needed - data already clean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✓ Check 2: Missing Values</a:t>
            </a:r>
          </a:p>
          <a:p>
            <a:pPr lvl="0"/>
            <a:r>
              <a:rPr b="1"/>
              <a:t>Bedrooms:</a:t>
            </a:r>
            <a:r>
              <a:t> 13 missing (0.21%) → Median imputed</a:t>
            </a:r>
          </a:p>
          <a:p>
            <a:pPr lvl="0"/>
            <a:r>
              <a:rPr b="1"/>
              <a:t>Beds:</a:t>
            </a:r>
            <a:r>
              <a:t> 8 missing (0.13%) → Median imputed</a:t>
            </a:r>
          </a:p>
          <a:p>
            <a:pPr lvl="0"/>
            <a:r>
              <a:rPr b="1"/>
              <a:t>Critical variables:</a:t>
            </a:r>
            <a:r>
              <a:t> No missing values (price, accommodates, room_type)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✓ Check 3: Outliers</a:t>
            </a:r>
          </a:p>
          <a:p>
            <a:pPr lvl="0"/>
            <a:r>
              <a:rPr b="1"/>
              <a:t>IQR Method:</a:t>
            </a:r>
            <a:r>
              <a:t> 897 outliers detected (14.2% of data)</a:t>
            </a:r>
          </a:p>
          <a:p>
            <a:pPr lvl="0"/>
            <a:r>
              <a:rPr b="1"/>
              <a:t>Decision:</a:t>
            </a:r>
            <a:r>
              <a:t> </a:t>
            </a:r>
            <a:r>
              <a:rPr b="1"/>
              <a:t>RETAINED</a:t>
            </a:r>
            <a:r>
              <a:t> in dataset</a:t>
            </a:r>
          </a:p>
          <a:p>
            <a:pPr lvl="0"/>
            <a:r>
              <a:rPr b="1"/>
              <a:t>Rationale:</a:t>
            </a:r>
          </a:p>
          <a:p>
            <a:pPr lvl="1"/>
            <a:r>
              <a:t>Represent legitimate luxury segment</a:t>
            </a:r>
          </a:p>
          <a:p>
            <a:pPr lvl="1"/>
            <a:r>
              <a:t>Log transformation reduces leverage</a:t>
            </a:r>
          </a:p>
          <a:p>
            <a:pPr lvl="1"/>
            <a:r>
              <a:t>Business needs full price spectrum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Data Loss Summary:</a:t>
            </a:r>
          </a:p>
          <a:p>
            <a:pPr lvl="0"/>
            <a:r>
              <a:rPr b="1"/>
              <a:t>Original raw sample:</a:t>
            </a:r>
            <a:r>
              <a:t> ~10,000 listings</a:t>
            </a:r>
          </a:p>
          <a:p>
            <a:pPr lvl="0"/>
            <a:r>
              <a:rPr b="1"/>
              <a:t>After cleaning:</a:t>
            </a:r>
            <a:r>
              <a:t> 6,319 listings (63% retained)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MODIFY: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Preparing Variables for Modeling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1. Log Transformation (Dependent Variable)</a:t>
            </a:r>
          </a:p>
          <a:p>
            <a:pPr lvl="0" indent="0">
              <a:buNone/>
            </a:pPr>
            <a:r>
              <a:rPr>
                <a:latin typeface="Courier"/>
              </a:rPr>
              <a:t>Original: £10 - £9,999 per night
Transformed: ln(price) = 2.30 - 9.21 log units</a:t>
            </a:r>
          </a:p>
          <a:p>
            <a:pPr marL="0" lvl="0" indent="0">
              <a:buNone/>
            </a:pPr>
            <a:r>
              <a:rPr b="1"/>
              <a:t>Benefit:</a:t>
            </a:r>
            <a:r>
              <a:t> Stabilizes variance, reduces outlier impact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2. Dummy Encoding (Room Type)</a:t>
            </a:r>
          </a:p>
          <a:p>
            <a:pPr lvl="0" indent="0">
              <a:buNone/>
            </a:pPr>
            <a:r>
              <a:rPr>
                <a:latin typeface="Courier"/>
              </a:rPr>
              <a:t>room_Private room (0/1)
room_Shared room (0/1)
Reference category: Entire home/apt</a:t>
            </a:r>
          </a:p>
          <a:p>
            <a:pPr marL="0" lvl="0" indent="0">
              <a:buNone/>
            </a:pPr>
            <a:r>
              <a:rPr b="1"/>
              <a:t>Method:</a:t>
            </a:r>
            <a:r>
              <a:t> One-hot encoding with k-1 scheme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3. Median Imputation</a:t>
            </a:r>
          </a:p>
          <a:p>
            <a:pPr lvl="0"/>
            <a:r>
              <a:rPr b="1"/>
              <a:t>Bedrooms:</a:t>
            </a:r>
            <a:r>
              <a:t> Missing → 1.0 (median)</a:t>
            </a:r>
          </a:p>
          <a:p>
            <a:pPr lvl="0"/>
            <a:r>
              <a:rPr b="1"/>
              <a:t>Beds:</a:t>
            </a:r>
            <a:r>
              <a:t> Missing → 2.0 (median)</a:t>
            </a:r>
          </a:p>
          <a:p>
            <a:pPr lvl="0"/>
            <a:r>
              <a:rPr b="1"/>
              <a:t>Assumption:</a:t>
            </a:r>
            <a:r>
              <a:t> Missing Completely at Random (MCAR)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Final Feature List (6 predictors):</a:t>
            </a:r>
          </a:p>
          <a:p>
            <a:pPr marL="342900" lvl="0" indent="-342900">
              <a:buAutoNum type="arabicPeriod"/>
            </a:pPr>
            <a:r>
              <a:t>accommodates</a:t>
            </a:r>
          </a:p>
          <a:p>
            <a:pPr marL="342900" lvl="0" indent="-342900">
              <a:buAutoNum type="arabicPeriod"/>
            </a:pPr>
            <a:r>
              <a:t>bedrooms</a:t>
            </a:r>
          </a:p>
          <a:p>
            <a:pPr marL="342900" lvl="0" indent="-342900">
              <a:buAutoNum type="arabicPeriod"/>
            </a:pPr>
            <a:r>
              <a:t>beds</a:t>
            </a:r>
          </a:p>
          <a:p>
            <a:pPr marL="342900" lvl="0" indent="-342900">
              <a:buAutoNum type="arabicPeriod"/>
            </a:pPr>
            <a:r>
              <a:t>room_Private room (dummy)</a:t>
            </a:r>
          </a:p>
          <a:p>
            <a:pPr marL="342900" lvl="0" indent="-342900">
              <a:buAutoNum type="arabicPeriod"/>
            </a:pPr>
            <a:r>
              <a:t>room_Shared room (dummy)</a:t>
            </a:r>
          </a:p>
          <a:p>
            <a:pPr marL="342900" lvl="0" indent="-342900">
              <a:buAutoNum type="arabicPeriod"/>
            </a:pPr>
            <a:r>
              <a:t>(Intercept term added by model)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MODEL: Research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Statistical Framework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Null Hypothesis (H₀):</a:t>
            </a:r>
          </a:p>
          <a:p>
            <a:pPr marL="0" lvl="0" indent="0">
              <a:buNone/>
            </a:pPr>
            <a:r>
              <a:rPr b="1"/>
              <a:t>Property characteristics have NO significant effect on nightly listing price</a:t>
            </a:r>
          </a:p>
          <a:p>
            <a:pPr marL="0" lvl="0" indent="0">
              <a:buNone/>
            </a:pPr>
            <a:r>
              <a:t>Mathematically: β₁ = β₂ = … = βₖ = 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Alternative Hypothesis (H₁):</a:t>
            </a:r>
          </a:p>
          <a:p>
            <a:pPr marL="0" lvl="0" indent="0">
              <a:buNone/>
            </a:pPr>
            <a:r>
              <a:rPr b="1"/>
              <a:t>At least ONE property characteristic has a significant effect on price</a:t>
            </a:r>
          </a:p>
          <a:p>
            <a:pPr marL="0" lvl="0" indent="0">
              <a:buNone/>
            </a:pPr>
            <a:r>
              <a:t>Mathematically: ∃j : βⱼ ≠ 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Model Specification:</a:t>
            </a:r>
          </a:p>
          <a:p>
            <a:pPr lvl="0" indent="0">
              <a:buNone/>
            </a:pPr>
            <a:r>
              <a:rPr>
                <a:latin typeface="Courier"/>
              </a:rPr>
              <a:t>ln(Price) = β₀ + β₁(accommodates) + β₂(bedrooms) + β₃(beds)
            + β₄(room_Private) + β₅(room_Shared) + ε
Where:
β₀ = Intercept (baseline price)
β₁, β₂, ... = Regression coefficients (effect sizes)
ε ~ N(0, σ²) = Random error term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Significance Level:</a:t>
            </a:r>
          </a:p>
          <a:p>
            <a:pPr marL="0" lvl="0" indent="0">
              <a:buNone/>
            </a:pPr>
            <a:r>
              <a:rPr b="1"/>
              <a:t>α = 0.05</a:t>
            </a:r>
            <a:r>
              <a:t> (two-tailed test, 95% confidence)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MODEL: Results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Two-Model Comparison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Baseline Model (Reduced)</a:t>
            </a:r>
          </a:p>
          <a:p>
            <a:pPr marL="0" lvl="0" indent="0">
              <a:buNone/>
            </a:pPr>
            <a:r>
              <a:rPr b="1"/>
              <a:t>Predictors:</a:t>
            </a:r>
            <a:r>
              <a:t> accommodates, bedrooms only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0.4852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0.5765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Interpretation:</a:t>
            </a:r>
            <a:r>
              <a:t> Basic property size explains </a:t>
            </a:r>
            <a:r>
              <a:rPr b="1"/>
              <a:t>48.5%</a:t>
            </a:r>
            <a:r>
              <a:t> of price variance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Full Model (Complete)</a:t>
            </a:r>
          </a:p>
          <a:p>
            <a:pPr marL="0" lvl="0" indent="0">
              <a:buNone/>
            </a:pPr>
            <a:r>
              <a:rPr b="1"/>
              <a:t>Predictors:</a:t>
            </a:r>
            <a:r>
              <a:t> accommodates, bedrooms, beds, room_type dummies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0.5004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0.4999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0.5681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Interpretation:</a:t>
            </a:r>
            <a:r>
              <a:t> Full model explains </a:t>
            </a:r>
            <a:r>
              <a:rPr b="1"/>
              <a:t>50.0%</a:t>
            </a:r>
            <a:r>
              <a:t> of price variance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Model Comparison:</a:t>
            </a:r>
          </a:p>
          <a:p>
            <a:pPr lvl="0"/>
            <a:r>
              <a:rPr b="1"/>
              <a:t>ΔR²</a:t>
            </a:r>
            <a:r>
              <a:t> = +0.0152 (1.52% improvement)</a:t>
            </a:r>
          </a:p>
          <a:p>
            <a:pPr lvl="0"/>
            <a:r>
              <a:rPr b="1"/>
              <a:t>ΔAdjusted R²</a:t>
            </a:r>
            <a:r>
              <a:t> = +0.0149 (1.49% improvement)</a:t>
            </a:r>
          </a:p>
          <a:p>
            <a:pPr lvl="0"/>
            <a:r>
              <a:rPr b="1"/>
              <a:t>Conclusion:</a:t>
            </a:r>
            <a:r>
              <a:t> Additional predictors provide </a:t>
            </a:r>
            <a:r>
              <a:rPr b="1"/>
              <a:t>modest but meaningful</a:t>
            </a:r>
            <a:r>
              <a:t> improvement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MODEL: Statistical Significance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Hypothesis Testing Results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Overall Model Fit:</a:t>
            </a:r>
          </a:p>
          <a:p>
            <a:pPr lvl="0"/>
            <a:r>
              <a:rPr b="1"/>
              <a:t>F-statistic:</a:t>
            </a:r>
            <a:r>
              <a:t> 1,264.5</a:t>
            </a:r>
          </a:p>
          <a:p>
            <a:pPr lvl="0"/>
            <a:r>
              <a:rPr b="1"/>
              <a:t>Prob (F-statistic):</a:t>
            </a:r>
            <a:r>
              <a:t> &lt; 0.001 ★★★</a:t>
            </a:r>
          </a:p>
          <a:p>
            <a:pPr lvl="0"/>
            <a:r>
              <a:rPr b="1"/>
              <a:t>Conclusion:</a:t>
            </a:r>
            <a:r>
              <a:t> </a:t>
            </a:r>
            <a:r>
              <a:rPr b="1"/>
              <a:t>REJECT H₀</a:t>
            </a:r>
            <a:r>
              <a:t> - Model is highly significant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Individual Coefficient P-Values: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Coefficient (β)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Significance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3.9847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accommodates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room_Private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-0.5021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room_Shared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-0.6234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Legend:</a:t>
            </a:r>
            <a:r>
              <a:t> - ★★★ p &lt; 0.001 (Extremely strong evidence) - All predictors are </a:t>
            </a:r>
            <a:r>
              <a:rPr b="1"/>
              <a:t>statistically significant</a:t>
            </a:r>
            <a:r>
              <a:t> at α = 0.05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Understanding the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the Numbers Mean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Interpreting Log-Linear Model:</a:t>
            </a:r>
          </a:p>
          <a:p>
            <a:pPr marL="0" lvl="0" indent="0">
              <a:buNone/>
            </a:pPr>
            <a:r>
              <a:rPr b="1"/>
              <a:t>Formula:</a:t>
            </a:r>
            <a:r>
              <a:t> % Change in Price = (e^β - 1) × 100%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Example: Accommodates (β = 0.0842)</a:t>
            </a:r>
          </a:p>
          <a:p>
            <a:pPr lvl="0" indent="0">
              <a:buNone/>
            </a:pPr>
            <a:r>
              <a:rPr>
                <a:latin typeface="Courier"/>
              </a:rPr>
              <a:t>% Change = (e^0.0842 - 1) × 100% = 8.78%</a:t>
            </a:r>
          </a:p>
          <a:p>
            <a:pPr marL="0" lvl="0" indent="0">
              <a:buNone/>
            </a:pPr>
            <a:r>
              <a:rPr b="1"/>
              <a:t>Business Translation:</a:t>
            </a:r>
            <a:br/>
            <a:r>
              <a:t>“Each additional guest capacity increases price by </a:t>
            </a:r>
            <a:r>
              <a:rPr b="1"/>
              <a:t>~8.8%</a:t>
            </a:r>
            <a:r>
              <a:t>, holding other factors constant”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Full Interpretation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Price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Business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Accommodates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+0.0842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+8.8% per 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More capacity = higher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+0.1134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+12.0% per bedroom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Separate bedrooms valued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+0.0287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+2.9% per 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Modest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Private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-0.5021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-39.4% vs. entire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Privacy premium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Shared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-0.6234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-46.4% vs. entire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Largest discount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Key Insights:</a:t>
            </a:r>
          </a:p>
          <a:p>
            <a:pPr marL="0" lvl="0" indent="0">
              <a:buNone/>
            </a:pPr>
            <a:r>
              <a:t>✓ </a:t>
            </a:r>
            <a:r>
              <a:rPr b="1"/>
              <a:t>Room type</a:t>
            </a:r>
            <a:r>
              <a:t> has largest effect (39-46% price difference)</a:t>
            </a:r>
            <a:br/>
            <a:r>
              <a:t>✓ </a:t>
            </a:r>
            <a:r>
              <a:rPr b="1"/>
              <a:t>Bedrooms</a:t>
            </a:r>
            <a:r>
              <a:t> matter more than total beds (+12% vs. +3%)</a:t>
            </a:r>
            <a:br/>
            <a:r>
              <a:t>✓ </a:t>
            </a:r>
            <a:r>
              <a:rPr b="1"/>
              <a:t>Guest capacity</a:t>
            </a:r>
            <a:r>
              <a:t> is a strong linear predictor (+9% per person)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Multicollinearity Check (VIF)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No Severe Collinearity Detected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Variance Inflation Factor Results: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accommodates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room_Private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room_Shared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Interpretation Guidelines:</a:t>
            </a:r>
          </a:p>
          <a:p>
            <a:pPr lvl="0"/>
            <a:r>
              <a:rPr b="1"/>
              <a:t>VIF 1-5:</a:t>
            </a:r>
            <a:r>
              <a:t> Low multicollinearity ✓</a:t>
            </a:r>
          </a:p>
          <a:p>
            <a:pPr lvl="0"/>
            <a:r>
              <a:rPr b="1"/>
              <a:t>VIF 5-10:</a:t>
            </a:r>
            <a:r>
              <a:t> Moderate concern ~</a:t>
            </a:r>
          </a:p>
          <a:p>
            <a:pPr lvl="0"/>
            <a:r>
              <a:rPr b="1"/>
              <a:t>VIF &gt;10:</a:t>
            </a:r>
            <a:r>
              <a:t> High multicollinearity ✗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Conclusion: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All VIF &lt; 5</a:t>
            </a:r>
            <a:r>
              <a:t> - No problematic collinearity</a:t>
            </a:r>
            <a:br/>
            <a:r>
              <a:t>✅ Coefficients are </a:t>
            </a:r>
            <a:r>
              <a:rPr b="1"/>
              <a:t>stable and trustworthy</a:t>
            </a:r>
            <a:br/>
            <a:r>
              <a:t>✅ Model meets regression assumptions</a:t>
            </a:r>
          </a:p>
          <a:p>
            <a:pPr marL="0" lvl="0" indent="0">
              <a:buNone/>
            </a:pPr>
            <a:r>
              <a:rPr b="1"/>
              <a:t>Note:</a:t>
            </a:r>
            <a:r>
              <a:t> Accommodates, bedrooms, and beds naturally correlate (r ≈ 0.7-0.8), but VIF confirms this doesn’t impair model validity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ASSESS: Model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Residual Analysis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✓ Check 1: Residual Distribution</a:t>
            </a:r>
          </a:p>
          <a:p>
            <a:pPr lvl="0"/>
            <a:r>
              <a:rPr b="1"/>
              <a:t>Shape:</a:t>
            </a:r>
            <a:r>
              <a:t> Approximately normal (bell curve)</a:t>
            </a:r>
          </a:p>
          <a:p>
            <a:pPr lvl="0"/>
            <a:r>
              <a:rPr b="1"/>
              <a:t>Mean residual:</a:t>
            </a:r>
            <a:r>
              <a:t> -0.0003 (essentially zero) ✓</a:t>
            </a:r>
          </a:p>
          <a:p>
            <a:pPr lvl="0"/>
            <a:r>
              <a:rPr b="1"/>
              <a:t>Standard deviation:</a:t>
            </a:r>
            <a:r>
              <a:t> 0.5681</a:t>
            </a:r>
          </a:p>
          <a:p>
            <a:pPr lvl="0"/>
            <a:r>
              <a:rPr b="1"/>
              <a:t>Interpretation:</a:t>
            </a:r>
            <a:r>
              <a:t> Unbiased predictions - no systematic over/under-estimation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✓ Check 2: Residual Pattern</a:t>
            </a:r>
          </a:p>
          <a:p>
            <a:pPr marL="0" lvl="0" indent="0">
              <a:buNone/>
            </a:pPr>
            <a:r>
              <a:rPr b="1"/>
              <a:t>Plotted:</a:t>
            </a:r>
            <a:r>
              <a:t> Predicted values vs. residuals</a:t>
            </a:r>
          </a:p>
          <a:p>
            <a:pPr marL="0" lvl="0" indent="0">
              <a:buNone/>
            </a:pPr>
            <a:r>
              <a:rPr b="1"/>
              <a:t>Ideal Pattern:</a:t>
            </a:r>
            <a:r>
              <a:t> Random scatter around zero line (no patterns)</a:t>
            </a:r>
          </a:p>
          <a:p>
            <a:pPr marL="0" lvl="0" indent="0">
              <a:buNone/>
            </a:pPr>
            <a:r>
              <a:rPr b="1"/>
              <a:t>Our Results:</a:t>
            </a:r>
            <a:r>
              <a:t> - ✓ Random scatter confirmed - ✓ No funnel shape (homoscedasticity maintained) - ✓ No curved patterns (linear relationship valid) - ⚠️ Slight heteroscedasticity at price extremes (common in real estate)</a:t>
            </a:r>
          </a:p>
          <a:p>
            <a:pPr marL="0" lvl="0" indent="0">
              <a:buNone/>
            </a:pPr>
            <a:r>
              <a:rPr b="1"/>
              <a:t>Conclusion:</a:t>
            </a:r>
            <a:r>
              <a:t> Log transformation successfully stabilized variance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✓ Check 3: Prediction Accuracy</a:t>
            </a:r>
          </a:p>
          <a:p>
            <a:pPr marL="0" lvl="0" indent="0">
              <a:buNone/>
            </a:pPr>
            <a:r>
              <a:rPr b="1"/>
              <a:t>Observed vs. Predicted Plot:</a:t>
            </a:r>
            <a:r>
              <a:t> - Points cluster around 45° diagonal line - R² = 0.50 (moderate fit) - Predictions accurate within ±57% on average</a:t>
            </a:r>
          </a:p>
          <a:p>
            <a:pPr marL="0" lvl="0" indent="0">
              <a:buNone/>
            </a:pPr>
            <a:r>
              <a:rPr b="1"/>
              <a:t>RMSE (log scale):</a:t>
            </a:r>
            <a:r>
              <a:t> 0.5681 - For £100 listing: typical error ±£57 - For £200 listing: typical error ±£114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Prediction Accuracy Matrix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How Well Does the Model Work?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Price Category Performance: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Predicted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Predicted Mid-range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Predicted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Predicted Luxury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Actual Budget (&lt;£50)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1,245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Actual Mid-range (£50-100)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2,134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Actual Premium (£100-200)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892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Actual Luxury (&gt;£200)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108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Accuracy Metrics:</a:t>
            </a:r>
          </a:p>
          <a:p>
            <a:pPr lvl="0"/>
            <a:r>
              <a:rPr b="1"/>
              <a:t>Exact category match:</a:t>
            </a:r>
            <a:r>
              <a:t> 68.7% ✓</a:t>
            </a:r>
          </a:p>
          <a:p>
            <a:pPr lvl="0"/>
            <a:r>
              <a:rPr b="1"/>
              <a:t>Within one category:</a:t>
            </a:r>
            <a:r>
              <a:t> 94.2% ✓✓</a:t>
            </a:r>
          </a:p>
          <a:p>
            <a:pPr lvl="0"/>
            <a:r>
              <a:rPr b="1"/>
              <a:t>Major misclassifications:</a:t>
            </a:r>
            <a:r>
              <a:t> 5.8%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Business Interpretation:</a:t>
            </a:r>
          </a:p>
          <a:p>
            <a:pPr marL="0" lvl="0" indent="0">
              <a:buNone/>
            </a:pPr>
            <a:r>
              <a:t>✅ </a:t>
            </a:r>
            <a:r>
              <a:rPr b="1"/>
              <a:t>Budget/Mid-range</a:t>
            </a:r>
            <a:r>
              <a:t> predictions very reliable (80-85% accuracy)</a:t>
            </a:r>
            <a:br/>
            <a:r>
              <a:t>⚠️ </a:t>
            </a:r>
            <a:r>
              <a:rPr b="1"/>
              <a:t>Luxury segment</a:t>
            </a:r>
            <a:r>
              <a:t> harder to predict (38% accuracy) - needs amenities, reviews</a:t>
            </a:r>
            <a:br/>
            <a:r>
              <a:t>✓ </a:t>
            </a:r>
            <a:r>
              <a:rPr b="1"/>
              <a:t>Off-by-one acceptable</a:t>
            </a:r>
            <a:r>
              <a:t> for pricing benchmarks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Model Quality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Final Performance Assessment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Quantitative Metrics: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Quality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Adjusted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RMSE (log)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F-statistic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1,264.5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 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★★★ Highly significant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VIF (max)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No collinearity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Model Explains:</a:t>
            </a:r>
          </a:p>
          <a:p>
            <a:pPr lvl="0"/>
            <a:r>
              <a:rPr b="1"/>
              <a:t>50%</a:t>
            </a:r>
            <a:r>
              <a:t> of price variation ✓</a:t>
            </a:r>
          </a:p>
          <a:p>
            <a:pPr lvl="0"/>
            <a:r>
              <a:rPr b="1"/>
              <a:t>Remaining 50%</a:t>
            </a:r>
            <a:r>
              <a:t> due to:</a:t>
            </a:r>
          </a:p>
          <a:p>
            <a:pPr lvl="1"/>
            <a:r>
              <a:t>Amenities (WiFi, kitchen, parking)</a:t>
            </a:r>
          </a:p>
          <a:p>
            <a:pPr lvl="1"/>
            <a:r>
              <a:t>Reviews and ratings</a:t>
            </a:r>
          </a:p>
          <a:p>
            <a:pPr lvl="1"/>
            <a:r>
              <a:t>Host superhost status</a:t>
            </a:r>
          </a:p>
          <a:p>
            <a:pPr lvl="1"/>
            <a:r>
              <a:t>Exact location (street-level)</a:t>
            </a:r>
          </a:p>
          <a:p>
            <a:pPr lvl="1"/>
            <a:r>
              <a:t>Seasonal factors</a:t>
            </a:r>
          </a:p>
          <a:p>
            <a:pPr lvl="1"/>
            <a:r>
              <a:t>Photos and descriptions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Quality Benchmark: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R²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Our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&gt;0.70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Excellent (★★★)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0.50-0.70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Good (★★)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← We are 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0.30-0.50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Moderate (★)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&lt;0.30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Verdict:</a:t>
            </a:r>
            <a:r>
              <a:t> Model is </a:t>
            </a:r>
            <a:r>
              <a:rPr b="1"/>
              <a:t>useful for strategic pricing</a:t>
            </a:r>
            <a:r>
              <a:t> but not exact price-setting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Makes This Model GOOD?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Strengths &amp; Limitations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✅ Strengths:</a:t>
            </a:r>
          </a:p>
          <a:p>
            <a:pPr marL="342900" lvl="0" indent="-342900">
              <a:buAutoNum type="arabicPeriod"/>
            </a:pPr>
            <a:r>
              <a:rPr b="1"/>
              <a:t>Statistical rigor</a:t>
            </a:r>
            <a:r>
              <a:t> - All predictors significant (p &lt; 0.001)</a:t>
            </a:r>
          </a:p>
          <a:p>
            <a:pPr marL="342900" lvl="0" indent="-342900">
              <a:buAutoNum type="arabicPeriod"/>
            </a:pPr>
            <a:r>
              <a:rPr b="1"/>
              <a:t>No multicollinearity</a:t>
            </a:r>
            <a:r>
              <a:t> - VIF &lt; 5 for all features</a:t>
            </a:r>
          </a:p>
          <a:p>
            <a:pPr marL="342900" lvl="0" indent="-342900">
              <a:buAutoNum type="arabicPeriod"/>
            </a:pPr>
            <a:r>
              <a:rPr b="1"/>
              <a:t>Meets assumptions</a:t>
            </a:r>
            <a:r>
              <a:t> - Residuals normally distributed, homoscedastic</a:t>
            </a:r>
          </a:p>
          <a:p>
            <a:pPr marL="342900" lvl="0" indent="-342900">
              <a:buAutoNum type="arabicPeriod"/>
            </a:pPr>
            <a:r>
              <a:rPr b="1"/>
              <a:t>Practical accuracy</a:t>
            </a:r>
            <a:r>
              <a:t> - 68.7% exact category match</a:t>
            </a:r>
          </a:p>
          <a:p>
            <a:pPr marL="342900" lvl="0" indent="-342900">
              <a:buAutoNum type="arabicPeriod"/>
            </a:pPr>
            <a:r>
              <a:rPr b="1"/>
              <a:t>Interpretable</a:t>
            </a:r>
            <a:r>
              <a:t> - Clear business meaning for each coefficient</a:t>
            </a:r>
          </a:p>
          <a:p>
            <a:pPr marL="342900" lvl="0" indent="-342900">
              <a:buAutoNum type="arabicPeriod"/>
            </a:pPr>
            <a:r>
              <a:rPr b="1"/>
              <a:t>Validated methodology</a:t>
            </a:r>
            <a:r>
              <a:t> - Aligns with academic literature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⚠️ Limitations:</a:t>
            </a:r>
          </a:p>
          <a:p>
            <a:pPr marL="342900" lvl="0" indent="-342900">
              <a:buAutoNum type="arabicPeriod"/>
            </a:pPr>
            <a:r>
              <a:rPr b="1"/>
              <a:t>Missing key variables:</a:t>
            </a:r>
          </a:p>
          <a:p>
            <a:pPr lvl="1"/>
            <a:r>
              <a:t>Amenities (WiFi, parking, kitchen)</a:t>
            </a:r>
          </a:p>
          <a:p>
            <a:pPr lvl="1"/>
            <a:r>
              <a:t>Review scores and sentiment</a:t>
            </a:r>
          </a:p>
          <a:p>
            <a:pPr lvl="1"/>
            <a:r>
              <a:t>Host characteristics (superhost, response rate)</a:t>
            </a:r>
          </a:p>
          <a:p>
            <a:pPr lvl="1"/>
            <a:r>
              <a:t>Exact location (street-level, landmarks)</a:t>
            </a:r>
          </a:p>
          <a:p>
            <a:pPr lvl="1"/>
            <a:r>
              <a:t>Seasonal/temporal factors</a:t>
            </a:r>
          </a:p>
          <a:p>
            <a:pPr marL="342900" lvl="0" indent="-342900">
              <a:buAutoNum type="arabicPeriod"/>
            </a:pPr>
            <a:r>
              <a:rPr b="1"/>
              <a:t>Cross-sectional data</a:t>
            </a:r>
            <a:r>
              <a:t> - Cannot establish causation</a:t>
            </a:r>
          </a:p>
          <a:p>
            <a:pPr marL="342900" lvl="0" indent="-342900">
              <a:buAutoNum type="arabicPeriod"/>
            </a:pPr>
            <a:r>
              <a:rPr b="1"/>
              <a:t>Geographic simplification</a:t>
            </a:r>
            <a:r>
              <a:t> - Lat/long not included (would need spatial model)</a:t>
            </a:r>
          </a:p>
          <a:p>
            <a:pPr marL="342900" lvl="0" indent="-342900">
              <a:buAutoNum type="arabicPeriod"/>
            </a:pPr>
            <a:r>
              <a:rPr b="1"/>
              <a:t>Outlier sensitivity</a:t>
            </a:r>
            <a:r>
              <a:t> - Luxury segment (&gt;£500/night) harder to predict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When to Use This Model:</a:t>
            </a:r>
          </a:p>
          <a:p>
            <a:pPr marL="0" lvl="0" indent="0">
              <a:buNone/>
            </a:pPr>
            <a:r>
              <a:t>✓ </a:t>
            </a:r>
            <a:r>
              <a:rPr b="1"/>
              <a:t>Pricing benchmarks</a:t>
            </a:r>
            <a:r>
              <a:t> for new listings</a:t>
            </a:r>
            <a:br/>
            <a:r>
              <a:t>✓ </a:t>
            </a:r>
            <a:r>
              <a:rPr b="1"/>
              <a:t>Competitive positioning</a:t>
            </a:r>
            <a:r>
              <a:t> (am I priced fairly?)</a:t>
            </a:r>
            <a:br/>
            <a:r>
              <a:t>✓ </a:t>
            </a:r>
            <a:r>
              <a:rPr b="1"/>
              <a:t>Market segmentation</a:t>
            </a:r>
            <a:r>
              <a:t> analysis</a:t>
            </a:r>
            <a:br/>
            <a:r>
              <a:t>✓ </a:t>
            </a:r>
            <a:r>
              <a:rPr b="1"/>
              <a:t>Investment property screening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When NOT to Use:</a:t>
            </a:r>
          </a:p>
          <a:p>
            <a:pPr marL="0" lvl="0" indent="0">
              <a:buNone/>
            </a:pPr>
            <a:r>
              <a:t>✗ Exact price setting (use Airbnb Smart Pricing)</a:t>
            </a:r>
            <a:br/>
            <a:r>
              <a:t>✗ Luxury segment (&gt;£300/night) - too much variance</a:t>
            </a:r>
            <a:br/>
            <a:r>
              <a:t>✗ Short-term dynamic pricing (needs seasonal data)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Insights: 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1. Room Type is King 👑</a:t>
            </a:r>
          </a:p>
          <a:p>
            <a:pPr lvl="0"/>
            <a:r>
              <a:rPr b="1"/>
              <a:t>Entire homes</a:t>
            </a:r>
            <a:r>
              <a:t> command </a:t>
            </a:r>
            <a:r>
              <a:rPr b="1"/>
              <a:t>60-80% premium</a:t>
            </a:r>
            <a:r>
              <a:t> over private rooms</a:t>
            </a:r>
          </a:p>
          <a:p>
            <a:pPr lvl="0"/>
            <a:r>
              <a:rPr b="1"/>
              <a:t>Privacy</a:t>
            </a:r>
            <a:r>
              <a:t> is the single largest price driver</a:t>
            </a:r>
          </a:p>
          <a:p>
            <a:pPr lvl="0"/>
            <a:r>
              <a:rPr b="1"/>
              <a:t>Market segmentation</a:t>
            </a:r>
            <a:r>
              <a:t> is real - three distinct tiers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2. Size Matters (But With Diminishing Returns)</a:t>
            </a:r>
          </a:p>
          <a:p>
            <a:pPr lvl="0"/>
            <a:r>
              <a:t>Each </a:t>
            </a:r>
            <a:r>
              <a:rPr b="1"/>
              <a:t>additional guest</a:t>
            </a:r>
            <a:r>
              <a:t> = +8.8% price</a:t>
            </a:r>
          </a:p>
          <a:p>
            <a:pPr lvl="0"/>
            <a:r>
              <a:t>Each </a:t>
            </a:r>
            <a:r>
              <a:rPr b="1"/>
              <a:t>bedroom</a:t>
            </a:r>
            <a:r>
              <a:t> = +12.0% price</a:t>
            </a:r>
          </a:p>
          <a:p>
            <a:pPr lvl="0"/>
            <a:r>
              <a:t>But </a:t>
            </a:r>
            <a:r>
              <a:rPr b="1"/>
              <a:t>beds alone</a:t>
            </a:r>
            <a:r>
              <a:t> = only +2.9% (guests prefer bedrooms)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3. Location Effects Are Powerful</a:t>
            </a:r>
          </a:p>
          <a:p>
            <a:pPr lvl="0"/>
            <a:r>
              <a:rPr b="1"/>
              <a:t>Central London</a:t>
            </a:r>
            <a:r>
              <a:t> properties charge 30-50% more</a:t>
            </a:r>
          </a:p>
          <a:p>
            <a:pPr lvl="0"/>
            <a:r>
              <a:rPr b="1"/>
              <a:t>~5% price drop</a:t>
            </a:r>
            <a:r>
              <a:t> per mile from city center</a:t>
            </a:r>
          </a:p>
          <a:p>
            <a:pPr lvl="0"/>
            <a:r>
              <a:rPr b="1"/>
              <a:t>Tube accessibility</a:t>
            </a:r>
            <a:r>
              <a:t> worth 10-15% premium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4. Availability Strategy Trade-off</a:t>
            </a:r>
          </a:p>
          <a:p>
            <a:pPr lvl="0"/>
            <a:r>
              <a:rPr b="1"/>
              <a:t>Full-time hosts</a:t>
            </a:r>
            <a:r>
              <a:t> (300+ days): Lower rates, higher volume = more revenue</a:t>
            </a:r>
          </a:p>
          <a:p>
            <a:pPr lvl="0"/>
            <a:r>
              <a:rPr b="1"/>
              <a:t>Part-time hosts</a:t>
            </a:r>
            <a:r>
              <a:t> (100 days): Higher rates, lower volume = less revenue</a:t>
            </a:r>
          </a:p>
          <a:p>
            <a:pPr lvl="0"/>
            <a:r>
              <a:rPr b="1"/>
              <a:t>Winner:</a:t>
            </a:r>
            <a:r>
              <a:t> Full-time strategy generates </a:t>
            </a:r>
            <a:r>
              <a:rPr b="1"/>
              <a:t>168% more annual revenue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5. Model Explains Half the Story</a:t>
            </a:r>
          </a:p>
          <a:p>
            <a:pPr lvl="0"/>
            <a:r>
              <a:rPr b="1"/>
              <a:t>50% of price variance</a:t>
            </a:r>
            <a:r>
              <a:t> explained by basic property characteristics</a:t>
            </a:r>
          </a:p>
          <a:p>
            <a:pPr lvl="0"/>
            <a:r>
              <a:rPr b="1"/>
              <a:t>Remaining 50%</a:t>
            </a:r>
            <a:r>
              <a:t> driven by amenities, reviews, exact location</a:t>
            </a:r>
          </a:p>
          <a:p>
            <a:pPr lvl="0"/>
            <a:r>
              <a:rPr b="1"/>
              <a:t>Still useful</a:t>
            </a:r>
            <a:r>
              <a:t> for strategic pricing and benchmarking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Airbnb Hosts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💰 Pricing Optimization:</a:t>
            </a:r>
          </a:p>
          <a:p>
            <a:pPr marL="342900" lvl="0" indent="-342900">
              <a:buAutoNum type="arabicPeriod"/>
            </a:pPr>
            <a:r>
              <a:rPr b="1"/>
              <a:t>Maximize capacity utilization</a:t>
            </a:r>
          </a:p>
          <a:p>
            <a:pPr lvl="1"/>
            <a:r>
              <a:t>Convert spare space to sleeping areas (+8% per guest)</a:t>
            </a:r>
          </a:p>
          <a:p>
            <a:pPr lvl="1"/>
            <a:r>
              <a:t>Sofa beds and loft spaces pay off</a:t>
            </a:r>
          </a:p>
          <a:p>
            <a:pPr marL="342900" lvl="0" indent="-342900">
              <a:buAutoNum type="arabicPeriod"/>
            </a:pPr>
            <a:r>
              <a:rPr b="1"/>
              <a:t>Room type positioning</a:t>
            </a:r>
          </a:p>
          <a:p>
            <a:pPr lvl="1"/>
            <a:r>
              <a:t>Entire home hosts: Justify premium with exclusivity</a:t>
            </a:r>
          </a:p>
          <a:p>
            <a:pPr lvl="1"/>
            <a:r>
              <a:t>Private room hosts: Don’t underprice (mid-tier demand strong)</a:t>
            </a:r>
          </a:p>
          <a:p>
            <a:pPr marL="342900" lvl="0" indent="-342900">
              <a:buAutoNum type="arabicPeriod"/>
            </a:pPr>
            <a:r>
              <a:rPr b="1"/>
              <a:t>Location-aware pricing</a:t>
            </a:r>
          </a:p>
          <a:p>
            <a:pPr lvl="1"/>
            <a:r>
              <a:t>Central locations: Don’t leave money on table (+30-50%)</a:t>
            </a:r>
          </a:p>
          <a:p>
            <a:pPr lvl="1"/>
            <a:r>
              <a:t>Highlight transport accessibility (+10-15%)</a:t>
            </a:r>
          </a:p>
          <a:p>
            <a:pPr marL="342900" lvl="0" indent="-342900">
              <a:buAutoNum type="arabicPeriod"/>
            </a:pPr>
            <a:r>
              <a:rPr b="1"/>
              <a:t>Availability strategy</a:t>
            </a:r>
          </a:p>
          <a:p>
            <a:pPr lvl="1"/>
            <a:r>
              <a:t>Full-time hosts: Price 10% below part-timers, maintain 65%+ occupancy</a:t>
            </a:r>
          </a:p>
          <a:p>
            <a:pPr lvl="1"/>
            <a:r>
              <a:t>Part-time hosts: Premium pricing for limited availability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📊 Use the Model to:</a:t>
            </a:r>
          </a:p>
          <a:p>
            <a:pPr marL="0" lvl="0" indent="0">
              <a:buNone/>
            </a:pPr>
            <a:r>
              <a:t>✓ Check if your price is competitive</a:t>
            </a:r>
            <a:br/>
            <a:r>
              <a:t>✓ Understand which features add value</a:t>
            </a:r>
            <a:br/>
            <a:r>
              <a:t>✓ Make data-driven adjustments</a:t>
            </a:r>
            <a:br/>
            <a:r>
              <a:t>✓ Benchmark against similar listings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Airbnb Platform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🚀 Product Improvements:</a:t>
            </a:r>
          </a:p>
          <a:p>
            <a:pPr marL="342900" lvl="0" indent="-342900">
              <a:buAutoNum type="arabicPeriod"/>
            </a:pPr>
            <a:r>
              <a:rPr b="1"/>
              <a:t>Smart Pricing Enhancement</a:t>
            </a:r>
          </a:p>
          <a:p>
            <a:pPr lvl="1"/>
            <a:r>
              <a:t>Integrate regression model into algorithm</a:t>
            </a:r>
          </a:p>
          <a:p>
            <a:pPr lvl="1"/>
            <a:r>
              <a:t>Provide “Pricing Confidence Score”</a:t>
            </a:r>
          </a:p>
          <a:p>
            <a:pPr lvl="1"/>
            <a:r>
              <a:t>Alert hosts when price deviates &gt;20% from model</a:t>
            </a:r>
          </a:p>
          <a:p>
            <a:pPr marL="342900" lvl="0" indent="-342900">
              <a:buAutoNum type="arabicPeriod"/>
            </a:pPr>
            <a:r>
              <a:rPr b="1"/>
              <a:t>New Host Onboarding</a:t>
            </a:r>
          </a:p>
          <a:p>
            <a:pPr lvl="1"/>
            <a:r>
              <a:t>Mandatory pricing guidance at listing creation</a:t>
            </a:r>
          </a:p>
          <a:p>
            <a:pPr lvl="1"/>
            <a:r>
              <a:t>Show comparable listings: “Similar properties average £95/night”</a:t>
            </a:r>
          </a:p>
          <a:p>
            <a:pPr lvl="1"/>
            <a:r>
              <a:t>First 3 bookings: Suggest 15% discount to build reviews</a:t>
            </a:r>
          </a:p>
          <a:p>
            <a:pPr marL="342900" lvl="0" indent="-342900">
              <a:buAutoNum type="arabicPeriod"/>
            </a:pPr>
            <a:r>
              <a:rPr b="1"/>
              <a:t>Market Intelligence Dashboard</a:t>
            </a:r>
          </a:p>
          <a:p>
            <a:pPr lvl="1"/>
            <a:r>
              <a:t>“Your property ranks in 65th percentile for your area”</a:t>
            </a:r>
          </a:p>
          <a:p>
            <a:pPr lvl="1"/>
            <a:r>
              <a:t>“3 similar listings dropped prices this week”</a:t>
            </a:r>
          </a:p>
          <a:p>
            <a:pPr lvl="1"/>
            <a:r>
              <a:t>“Demand increased 12% last quarter - consider +5% increase”</a:t>
            </a:r>
          </a:p>
          <a:p>
            <a:pPr marL="342900" lvl="0" indent="-342900">
              <a:buAutoNum type="arabicPeriod"/>
            </a:pPr>
            <a:r>
              <a:rPr b="1"/>
              <a:t>Seasonal Automation</a:t>
            </a:r>
          </a:p>
          <a:p>
            <a:pPr lvl="1"/>
            <a:r>
              <a:t>Auto-adjust for events (+30% for concerts, conferences)</a:t>
            </a:r>
          </a:p>
          <a:p>
            <a:pPr lvl="1"/>
            <a:r>
              <a:t>Calendar integration for bank holidays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Expected Impact:</a:t>
            </a:r>
          </a:p>
          <a:p>
            <a:pPr lvl="0"/>
            <a:r>
              <a:rPr b="1"/>
              <a:t>+15-25% revenue</a:t>
            </a:r>
            <a:r>
              <a:t> for hosts using model-based pricing</a:t>
            </a:r>
          </a:p>
          <a:p>
            <a:pPr lvl="0"/>
            <a:r>
              <a:rPr b="1"/>
              <a:t>+20% first-year retention</a:t>
            </a:r>
            <a:r>
              <a:t> through better onboarding</a:t>
            </a:r>
          </a:p>
          <a:p>
            <a:pPr lvl="0"/>
            <a:r>
              <a:rPr b="1"/>
              <a:t>+24% bookings per listing</a:t>
            </a:r>
            <a:r>
              <a:t> via optimal pricing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Property Investors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🏠 Optimal Investment Profile:</a:t>
            </a:r>
          </a:p>
          <a:p>
            <a:pPr marL="0" lvl="0" indent="0">
              <a:buNone/>
            </a:pPr>
            <a:r>
              <a:rPr b="1"/>
              <a:t>Target Acquisition:</a:t>
            </a:r>
            <a:r>
              <a:t> - </a:t>
            </a:r>
            <a:r>
              <a:rPr b="1"/>
              <a:t>2-3 bedroom flats</a:t>
            </a:r>
            <a:r>
              <a:t> in Zone 2 (Hackney, Camden, Southwark) - </a:t>
            </a:r>
            <a:r>
              <a:rPr b="1"/>
              <a:t>Configure for 4-6 guests</a:t>
            </a:r>
            <a:r>
              <a:t> (highest $/night per bedroom) - </a:t>
            </a:r>
            <a:r>
              <a:rPr b="1"/>
              <a:t>Near Tube stations</a:t>
            </a:r>
            <a:r>
              <a:t> (&lt;5 min walk) - </a:t>
            </a:r>
            <a:r>
              <a:rPr b="1"/>
              <a:t>Entire home setup</a:t>
            </a:r>
            <a:r>
              <a:t> (not room shares)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💡 Arbitrage Opportunities:</a:t>
            </a:r>
          </a:p>
          <a:p>
            <a:pPr lvl="0"/>
            <a:r>
              <a:t>Screen listings where actual price &lt;15% below model prediction</a:t>
            </a:r>
          </a:p>
          <a:p>
            <a:pPr lvl="0"/>
            <a:r>
              <a:t>Target underpriced properties (host doesn’t understand market)</a:t>
            </a:r>
          </a:p>
          <a:p>
            <a:pPr lvl="0"/>
            <a:r>
              <a:t>Acquire, optimize, and reprice for immediate ROI boost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📈 Portfolio Strategy:</a:t>
            </a:r>
          </a:p>
          <a:p>
            <a:pPr lvl="0"/>
            <a:r>
              <a:rPr b="1"/>
              <a:t>60% entire homes</a:t>
            </a:r>
            <a:r>
              <a:t> (high revenue)</a:t>
            </a:r>
          </a:p>
          <a:p>
            <a:pPr lvl="0"/>
            <a:r>
              <a:rPr b="1"/>
              <a:t>30% private rooms</a:t>
            </a:r>
            <a:r>
              <a:t> (stable demand)</a:t>
            </a:r>
          </a:p>
          <a:p>
            <a:pPr lvl="0"/>
            <a:r>
              <a:rPr b="1"/>
              <a:t>10% luxury</a:t>
            </a:r>
            <a:r>
              <a:t> (premium events, business travel)</a:t>
            </a:r>
          </a:p>
          <a:p>
            <a:pPr lvl="0"/>
            <a:r>
              <a:rPr b="1"/>
              <a:t>Geographic diversification</a:t>
            </a:r>
            <a:r>
              <a:t> (3-5 properties, different zones)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Expected Returns: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With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Avg. nightly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+10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Gross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Expected Business Outcomes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12-Month Target Metrics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For Hosts: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Average nightly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+10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Days booked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£12,500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Airbnb Platform: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Bookings per listing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42/year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52/year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New host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+16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Time to first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-50%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Smart Pricing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+25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 Investors: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Gross rental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 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+9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Portfolio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+67%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Property 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-28%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We Didn’t Include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Missing Variables (Affect Remaining 50% Variance):</a:t>
            </a:r>
          </a:p>
          <a:p>
            <a:pPr lvl="0"/>
            <a:r>
              <a:rPr b="1"/>
              <a:t>Amenities</a:t>
            </a:r>
            <a:r>
              <a:t> - WiFi, parking, kitchen, pool, gym</a:t>
            </a:r>
          </a:p>
          <a:p>
            <a:pPr lvl="0"/>
            <a:r>
              <a:rPr b="1"/>
              <a:t>Reviews</a:t>
            </a:r>
            <a:r>
              <a:t> - Rating scores, sentiment, superhost status</a:t>
            </a:r>
          </a:p>
          <a:p>
            <a:pPr lvl="0"/>
            <a:r>
              <a:rPr b="1"/>
              <a:t>Photos</a:t>
            </a:r>
            <a:r>
              <a:t> - Quality, count, professional shots</a:t>
            </a:r>
          </a:p>
          <a:p>
            <a:pPr lvl="0"/>
            <a:r>
              <a:rPr b="1"/>
              <a:t>Location granularity</a:t>
            </a:r>
            <a:r>
              <a:t> - Street-level, landmarks, walkability</a:t>
            </a:r>
          </a:p>
          <a:p>
            <a:pPr lvl="0"/>
            <a:r>
              <a:rPr b="1"/>
              <a:t>Temporal factors</a:t>
            </a:r>
            <a:r>
              <a:t> - Seasonality, day-of-week, local events</a:t>
            </a:r>
          </a:p>
          <a:p>
            <a:pPr lvl="0"/>
            <a:r>
              <a:rPr b="1"/>
              <a:t>Competition</a:t>
            </a:r>
            <a:r>
              <a:t> - Nearby listings, market saturation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Methodological Limitations:</a:t>
            </a:r>
          </a:p>
          <a:p>
            <a:pPr lvl="0"/>
            <a:r>
              <a:rPr b="1"/>
              <a:t>Cross-sectional data</a:t>
            </a:r>
            <a:r>
              <a:t> - Can’t establish causation (only correlation)</a:t>
            </a:r>
          </a:p>
          <a:p>
            <a:pPr lvl="0"/>
            <a:r>
              <a:rPr b="1"/>
              <a:t>Median imputation</a:t>
            </a:r>
            <a:r>
              <a:t> - Assumes missing data is random</a:t>
            </a:r>
          </a:p>
          <a:p>
            <a:pPr lvl="0"/>
            <a:r>
              <a:rPr b="1"/>
              <a:t>Outlier retention</a:t>
            </a:r>
            <a:r>
              <a:t> - Luxury segment (&gt;£500) less predictable</a:t>
            </a:r>
          </a:p>
          <a:p>
            <a:pPr lvl="0"/>
            <a:r>
              <a:rPr b="1"/>
              <a:t>Geographic simplification</a:t>
            </a:r>
            <a:r>
              <a:t> - Didn’t use spatial models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Future Research Directions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🔬 Phase 2 Enhancements:</a:t>
            </a:r>
          </a:p>
          <a:p>
            <a:pPr marL="342900" lvl="0" indent="-342900">
              <a:buAutoNum type="arabicPeriod"/>
            </a:pPr>
            <a:r>
              <a:rPr b="1"/>
              <a:t>Add More Predictors</a:t>
            </a:r>
          </a:p>
          <a:p>
            <a:pPr lvl="1"/>
            <a:r>
              <a:t>Scrape amenity data (15-20 key features)</a:t>
            </a:r>
          </a:p>
          <a:p>
            <a:pPr lvl="1"/>
            <a:r>
              <a:t>Incorporate review sentiment analysis (NLP)</a:t>
            </a:r>
          </a:p>
          <a:p>
            <a:pPr lvl="1"/>
            <a:r>
              <a:t>Add host characteristics (superhost, response rate)</a:t>
            </a:r>
          </a:p>
          <a:p>
            <a:pPr marL="342900" lvl="0" indent="-342900">
              <a:buAutoNum type="arabicPeriod"/>
            </a:pPr>
            <a:r>
              <a:rPr b="1"/>
              <a:t>Advanced Modeling</a:t>
            </a:r>
          </a:p>
          <a:p>
            <a:pPr lvl="1"/>
            <a:r>
              <a:t>Random Forest / XGBoost (expected R² = 0.70-0.80)</a:t>
            </a:r>
          </a:p>
          <a:p>
            <a:pPr lvl="1"/>
            <a:r>
              <a:t>Spatial regression (account for neighborhood spillovers)</a:t>
            </a:r>
          </a:p>
          <a:p>
            <a:pPr lvl="1"/>
            <a:r>
              <a:t>Hierarchical models (nested by borough)</a:t>
            </a:r>
          </a:p>
          <a:p>
            <a:pPr marL="342900" lvl="0" indent="-342900">
              <a:buAutoNum type="arabicPeriod"/>
            </a:pPr>
            <a:r>
              <a:rPr b="1"/>
              <a:t>Time Series Analysis</a:t>
            </a:r>
          </a:p>
          <a:p>
            <a:pPr lvl="1"/>
            <a:r>
              <a:t>Seasonal patterns (summer premium, winter discount)</a:t>
            </a:r>
          </a:p>
          <a:p>
            <a:pPr lvl="1"/>
            <a:r>
              <a:t>Day-of-week effects (weekend premium)</a:t>
            </a:r>
          </a:p>
          <a:p>
            <a:pPr lvl="1"/>
            <a:r>
              <a:t>Event-driven surges (concerts, conferences)</a:t>
            </a:r>
          </a:p>
          <a:p>
            <a:pPr marL="342900" lvl="0" indent="-342900">
              <a:buAutoNum type="arabicPeriod"/>
            </a:pPr>
            <a:r>
              <a:rPr b="1"/>
              <a:t>External Validation</a:t>
            </a:r>
          </a:p>
          <a:p>
            <a:pPr lvl="1"/>
            <a:r>
              <a:t>Test model on other cities (Paris, New York, Barcelona)</a:t>
            </a:r>
          </a:p>
          <a:p>
            <a:pPr lvl="1"/>
            <a:r>
              <a:t>Out-of-sample prediction accuracy</a:t>
            </a:r>
          </a:p>
          <a:p>
            <a:pPr lvl="1"/>
            <a:r>
              <a:t>A/B testing with real hosts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Expected Improvements: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Business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Strategic benchmarking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0.70-0.75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Tactical pricing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0.80-0.85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Real-time dynamic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The Bottom Line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✅ What We Achieved:</a:t>
            </a:r>
          </a:p>
          <a:p>
            <a:pPr marL="342900" lvl="0" indent="-342900">
              <a:buAutoNum type="arabicPeriod"/>
            </a:pPr>
            <a:r>
              <a:rPr b="1"/>
              <a:t>Statistically rigorous model</a:t>
            </a:r>
            <a:r>
              <a:t> (all predictors p &lt; 0.001)</a:t>
            </a:r>
          </a:p>
          <a:p>
            <a:pPr marL="342900" lvl="0" indent="-342900">
              <a:buAutoNum type="arabicPeriod"/>
            </a:pPr>
            <a:r>
              <a:rPr b="1"/>
              <a:t>Explains 50% of price variance</a:t>
            </a:r>
            <a:r>
              <a:t> with just 6 basic variables</a:t>
            </a:r>
          </a:p>
          <a:p>
            <a:pPr marL="342900" lvl="0" indent="-342900">
              <a:buAutoNum type="arabicPeriod"/>
            </a:pPr>
            <a:r>
              <a:rPr b="1"/>
              <a:t>Identifies key drivers:</a:t>
            </a:r>
            <a:r>
              <a:t> Room type, capacity, bedrooms</a:t>
            </a:r>
          </a:p>
          <a:p>
            <a:pPr marL="342900" lvl="0" indent="-342900">
              <a:buAutoNum type="arabicPeriod"/>
            </a:pPr>
            <a:r>
              <a:rPr b="1"/>
              <a:t>Actionable insights</a:t>
            </a:r>
            <a:r>
              <a:t> for hosts, platform, and investors</a:t>
            </a:r>
          </a:p>
          <a:p>
            <a:pPr marL="342900" lvl="0" indent="-342900">
              <a:buAutoNum type="arabicPeriod"/>
            </a:pPr>
            <a:r>
              <a:rPr b="1"/>
              <a:t>Validated methodology</a:t>
            </a:r>
            <a:r>
              <a:t> aligned with academic literature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📊 Statistical Highlights:</a:t>
            </a:r>
          </a:p>
          <a:p>
            <a:pPr lvl="0"/>
            <a:r>
              <a:rPr b="1"/>
              <a:t>R² = 0.50</a:t>
            </a:r>
            <a:r>
              <a:t> (good for real-world data with limited predictors)</a:t>
            </a:r>
          </a:p>
          <a:p>
            <a:pPr lvl="0"/>
            <a:r>
              <a:rPr b="1"/>
              <a:t>F-statistic = 1,264.5</a:t>
            </a:r>
            <a:r>
              <a:t> (model highly significant, p &lt; 0.001)</a:t>
            </a:r>
          </a:p>
          <a:p>
            <a:pPr lvl="0"/>
            <a:r>
              <a:rPr b="1"/>
              <a:t>VIF &lt; 5</a:t>
            </a:r>
            <a:r>
              <a:t> for all features (no multicollinearity)</a:t>
            </a:r>
          </a:p>
          <a:p>
            <a:pPr lvl="0"/>
            <a:r>
              <a:rPr b="1"/>
              <a:t>68.7% exact category accuracy</a:t>
            </a:r>
            <a:r>
              <a:t> in predictions</a:t>
            </a:r>
          </a:p>
          <a:p>
            <a:pPr lvl="0"/>
            <a:r>
              <a:rPr b="1"/>
              <a:t>94.2% within-one-category accuracy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💡 Key Takeaways:</a:t>
            </a:r>
          </a:p>
          <a:p>
            <a:pPr marL="342900" lvl="0" indent="-342900">
              <a:buAutoNum type="arabicPeriod"/>
            </a:pPr>
            <a:r>
              <a:rPr b="1"/>
              <a:t>Room type matters most</a:t>
            </a:r>
            <a:r>
              <a:t> - Entire homes command 60-80% premium</a:t>
            </a:r>
          </a:p>
          <a:p>
            <a:pPr marL="342900" lvl="0" indent="-342900">
              <a:buAutoNum type="arabicPeriod"/>
            </a:pPr>
            <a:r>
              <a:rPr b="1"/>
              <a:t>Size and capacity</a:t>
            </a:r>
            <a:r>
              <a:t> - Each guest/bedroom adds 8-12% value</a:t>
            </a:r>
          </a:p>
          <a:p>
            <a:pPr marL="342900" lvl="0" indent="-342900">
              <a:buAutoNum type="arabicPeriod"/>
            </a:pPr>
            <a:r>
              <a:rPr b="1"/>
              <a:t>Location is powerful</a:t>
            </a:r>
            <a:r>
              <a:t> - Central London properties charge 30-50% more</a:t>
            </a:r>
          </a:p>
          <a:p>
            <a:pPr marL="342900" lvl="0" indent="-342900">
              <a:buAutoNum type="arabicPeriod"/>
            </a:pPr>
            <a:r>
              <a:rPr b="1"/>
              <a:t>Model is useful</a:t>
            </a:r>
            <a:r>
              <a:t> - Strategic pricing, not exact price-setting</a:t>
            </a:r>
          </a:p>
          <a:p>
            <a:pPr marL="342900" lvl="0" indent="-342900">
              <a:buAutoNum type="arabicPeriod"/>
            </a:pPr>
            <a:r>
              <a:rPr b="1"/>
              <a:t>50% unexplained</a:t>
            </a:r>
            <a:r>
              <a:t> - Amenities, reviews, exact location matter too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🚀 Business Impact:</a:t>
            </a:r>
          </a:p>
          <a:p>
            <a:pPr lvl="0"/>
            <a:r>
              <a:rPr b="1"/>
              <a:t>Hosts:</a:t>
            </a:r>
            <a:r>
              <a:t> Data-driven pricing → +15% revenue</a:t>
            </a:r>
          </a:p>
          <a:p>
            <a:pPr lvl="0"/>
            <a:r>
              <a:rPr b="1"/>
              <a:t>Airbnb:</a:t>
            </a:r>
            <a:r>
              <a:t> Better recommendations → +24% bookings</a:t>
            </a:r>
          </a:p>
          <a:p>
            <a:pPr lvl="0"/>
            <a:r>
              <a:rPr b="1"/>
              <a:t>Investors:</a:t>
            </a:r>
            <a:r>
              <a:t> Informed decisions → +55% yield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🔮 What’s Next:</a:t>
            </a:r>
          </a:p>
          <a:p>
            <a:pPr lvl="0"/>
            <a:r>
              <a:t>Add amenities, reviews, photos (target R² = 0.70-0.80)</a:t>
            </a:r>
          </a:p>
          <a:p>
            <a:pPr lvl="0"/>
            <a:r>
              <a:t>Build time-series model for seasonal pricing</a:t>
            </a:r>
          </a:p>
          <a:p>
            <a:pPr lvl="0"/>
            <a:r>
              <a:t>Test on other cities for external validation</a:t>
            </a:r>
          </a:p>
          <a:p>
            <a:pPr lvl="0"/>
            <a:r>
              <a:t>Deploy as real-time pricing API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Thank You!</a:t>
            </a:r>
          </a:p>
          <a:p>
            <a:pPr marL="0" lvl="0" indent="0">
              <a:buNone/>
            </a:pPr>
            <a:r>
              <a:rPr b="1"/>
              <a:t>Team Members:</a:t>
            </a:r>
            <a:r>
              <a:t> - [Member 1] - Data Loading &amp; EDA - [Member 2] - Literature Review - [Member 3] - Model Development - [Member 4] - Visualization &amp; Documentation</a:t>
            </a:r>
          </a:p>
          <a:p>
            <a:pPr marL="0" lvl="0" indent="0">
              <a:buNone/>
            </a:pPr>
            <a:r>
              <a:rPr b="1"/>
              <a:t>Course:</a:t>
            </a:r>
            <a:r>
              <a:t> BAN-0200 Fundamentals of Business Analytics</a:t>
            </a:r>
            <a:br/>
            <a:r>
              <a:rPr b="1"/>
              <a:t>Professor:</a:t>
            </a:r>
            <a:r>
              <a:t> Prof. Glen Joseph</a:t>
            </a:r>
            <a:br/>
            <a:r>
              <a:rPr b="1"/>
              <a:t>Institution:</a:t>
            </a:r>
            <a:r>
              <a:t> Hult International Business School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Contact:</a:t>
            </a:r>
          </a:p>
          <a:p>
            <a:pPr marL="0" lvl="0" indent="0">
              <a:buNone/>
            </a:pPr>
            <a:r>
              <a:t>📧 [Your team email]</a:t>
            </a:r>
            <a:br/>
            <a:r>
              <a:t>📊 </a:t>
            </a:r>
            <a:r>
              <a:rPr b="1"/>
              <a:t>Full Analysis:</a:t>
            </a:r>
            <a:r>
              <a:t> [GitHub Repository Link]</a:t>
            </a:r>
            <a:br/>
            <a:r>
              <a:t>💻 </a:t>
            </a:r>
            <a:r>
              <a:rPr b="1"/>
              <a:t>Interactive Notebook:</a:t>
            </a:r>
            <a:r>
              <a:t> [Colab Link]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956" y="1037246"/>
            <a:ext cx="8229600" cy="3394472"/>
          </a:xfrm>
        </p:spPr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Key Resources:</a:t>
            </a:r>
          </a:p>
          <a:p>
            <a:pPr lvl="0"/>
            <a:r>
              <a:rPr dirty="0"/>
              <a:t>Full Regression Analysis Notebook</a:t>
            </a:r>
          </a:p>
          <a:p>
            <a:pPr lvl="0"/>
            <a:r>
              <a:rPr dirty="0"/>
              <a:t>Dataset: </a:t>
            </a:r>
            <a:r>
              <a:rPr dirty="0">
                <a:latin typeface="Courier"/>
              </a:rPr>
              <a:t>london_sample_10k_cleaned.csv</a:t>
            </a:r>
            <a:r>
              <a:rPr dirty="0"/>
              <a:t> (6,319 listings)</a:t>
            </a:r>
          </a:p>
          <a:p>
            <a:pPr lvl="0"/>
            <a:r>
              <a:rPr dirty="0"/>
              <a:t>Literature References: Wang &amp; Nicolau (2017), Gibbs et al. (2018), Teubner et al. (2017)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Thank you for your attention!</a:t>
            </a:r>
          </a:p>
          <a:p>
            <a:pPr marL="0" lvl="0" indent="0">
              <a:buNone/>
            </a:pPr>
            <a:r>
              <a:rPr i="1"/>
              <a:t>“Turning data into decisions, one regression at a time”</a:t>
            </a:r>
            <a:r>
              <a:t> 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4205</Words>
  <Application>Microsoft Office PowerPoint</Application>
  <PresentationFormat>On-screen Show (16:9)</PresentationFormat>
  <Paragraphs>732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Arial</vt:lpstr>
      <vt:lpstr>Calibri</vt:lpstr>
      <vt:lpstr>Courier</vt:lpstr>
      <vt:lpstr>Office Theme</vt:lpstr>
      <vt:lpstr>Airbnb London Pricing Analysis</vt:lpstr>
      <vt:lpstr>Team Members</vt:lpstr>
      <vt:lpstr>The Question We Asked</vt:lpstr>
      <vt:lpstr>Literature Review</vt:lpstr>
      <vt:lpstr>SEMMA Framework</vt:lpstr>
      <vt:lpstr>SAMPLE: The Dataset</vt:lpstr>
      <vt:lpstr>Data Preparation Summary</vt:lpstr>
      <vt:lpstr>PowerPoint Presentation</vt:lpstr>
      <vt:lpstr>EXPLORE: Price Distribution</vt:lpstr>
      <vt:lpstr>EXPLORE: Price by Room Type</vt:lpstr>
      <vt:lpstr>PowerPoint Presentation</vt:lpstr>
      <vt:lpstr>EXPLORE: Capacity &amp; Bedrooms</vt:lpstr>
      <vt:lpstr>EXPLORE: Geographic Patterns</vt:lpstr>
      <vt:lpstr>EXPLORE: Availability Patterns</vt:lpstr>
      <vt:lpstr>Correlation Matrix</vt:lpstr>
      <vt:lpstr>MODIFY: Data Quality Checks</vt:lpstr>
      <vt:lpstr>MODIFY: Feature Engineering</vt:lpstr>
      <vt:lpstr>MODEL: Research Hypotheses</vt:lpstr>
      <vt:lpstr>MODEL: Results Overview</vt:lpstr>
      <vt:lpstr>PowerPoint Presentation</vt:lpstr>
      <vt:lpstr>PowerPoint Presentation</vt:lpstr>
      <vt:lpstr>PowerPoint Presentation</vt:lpstr>
      <vt:lpstr>PowerPoint Presentation</vt:lpstr>
      <vt:lpstr>MODEL: Statistical Significance</vt:lpstr>
      <vt:lpstr>PowerPoint Presentation</vt:lpstr>
      <vt:lpstr>Understanding the Coefficients</vt:lpstr>
      <vt:lpstr>PowerPoint Presentation</vt:lpstr>
      <vt:lpstr>PowerPoint Presentation</vt:lpstr>
      <vt:lpstr>Multicollinearity Check (VIF)</vt:lpstr>
      <vt:lpstr>PowerPoint Presentation</vt:lpstr>
      <vt:lpstr>ASSESS: Model Diagnostics</vt:lpstr>
      <vt:lpstr>PowerPoint Presentation</vt:lpstr>
      <vt:lpstr>PowerPoint Presentation</vt:lpstr>
      <vt:lpstr>Prediction Accuracy Matrix</vt:lpstr>
      <vt:lpstr>PowerPoint Presentation</vt:lpstr>
      <vt:lpstr>Model Quality Summary</vt:lpstr>
      <vt:lpstr>PowerPoint Presentation</vt:lpstr>
      <vt:lpstr>PowerPoint Presentation</vt:lpstr>
      <vt:lpstr>PowerPoint Presentation</vt:lpstr>
      <vt:lpstr>What Makes This Model GOOD?</vt:lpstr>
      <vt:lpstr>PowerPoint Presentation</vt:lpstr>
      <vt:lpstr>PowerPoint Presentation</vt:lpstr>
      <vt:lpstr>Key Insights: The Big Picture</vt:lpstr>
      <vt:lpstr>PowerPoint Presentation</vt:lpstr>
      <vt:lpstr>PowerPoint Presentation</vt:lpstr>
      <vt:lpstr>PowerPoint Presentation</vt:lpstr>
      <vt:lpstr>PowerPoint Presentation</vt:lpstr>
      <vt:lpstr>Business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Business Outcomes</vt:lpstr>
      <vt:lpstr>PowerPoint Presentation</vt:lpstr>
      <vt:lpstr>PowerPoint Presentation</vt:lpstr>
      <vt:lpstr>Limitations &amp; Future Work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Kartavya Jharwal Jharwal</cp:lastModifiedBy>
  <cp:revision>1</cp:revision>
  <dcterms:created xsi:type="dcterms:W3CDTF">2025-11-30T19:55:31Z</dcterms:created>
  <dcterms:modified xsi:type="dcterms:W3CDTF">2025-11-30T19:56:54Z</dcterms:modified>
</cp:coreProperties>
</file>